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73" r:id="rId9"/>
    <p:sldId id="263" r:id="rId10"/>
    <p:sldId id="264" r:id="rId11"/>
    <p:sldId id="267" r:id="rId12"/>
    <p:sldId id="283" r:id="rId13"/>
    <p:sldId id="268" r:id="rId14"/>
    <p:sldId id="269" r:id="rId15"/>
    <p:sldId id="28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4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50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tr.org/blog/2026-08-26-openai-agent-incident-report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ICIETSD68684.2026.11584699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109/ISSATK69667.2026.11566843" TargetMode="External"/><Relationship Id="rId5" Type="http://schemas.openxmlformats.org/officeDocument/2006/relationships/hyperlink" Target="https://doi.org/10.1109/I3CTCON68242.2026.11507184" TargetMode="External"/><Relationship Id="rId4" Type="http://schemas.openxmlformats.org/officeDocument/2006/relationships/hyperlink" Target="https://doi.org/10.1109/ICAISET66439.2026.11541969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google/A2A/tree/main/samples" TargetMode="External"/><Relationship Id="rId3" Type="http://schemas.openxmlformats.org/officeDocument/2006/relationships/hyperlink" Target="https://doi.org/10.1109/ICIETSD68684.2026.11584699" TargetMode="External"/><Relationship Id="rId7" Type="http://schemas.openxmlformats.org/officeDocument/2006/relationships/hyperlink" Target="https://github.com/a2aproject/A2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109/ISSATK69667.2026.11566843" TargetMode="External"/><Relationship Id="rId11" Type="http://schemas.openxmlformats.org/officeDocument/2006/relationships/hyperlink" Target="https://github.com/dhyabi2/a2a-registry" TargetMode="External"/><Relationship Id="rId5" Type="http://schemas.openxmlformats.org/officeDocument/2006/relationships/hyperlink" Target="https://doi.org/10.1109/I3CTCON68242.2026.11507184" TargetMode="External"/><Relationship Id="rId10" Type="http://schemas.openxmlformats.org/officeDocument/2006/relationships/hyperlink" Target="https://github.com/a2aproject/a2a-inspector" TargetMode="External"/><Relationship Id="rId4" Type="http://schemas.openxmlformats.org/officeDocument/2006/relationships/hyperlink" Target="https://doi.org/10.1109/ICAISET66439.2026.11541969" TargetMode="External"/><Relationship Id="rId9" Type="http://schemas.openxmlformats.org/officeDocument/2006/relationships/hyperlink" Target="https://github.com/SaFo-Lab/A2ASecBench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37160"/>
            <a:ext cx="1280160" cy="17303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1188720"/>
            <a:ext cx="94457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E48312"/>
                </a:solidFill>
                <a:latin typeface="Trebuchet MS"/>
              </a:defRPr>
            </a:pPr>
            <a:r>
              <a:t>B.Tech. in CSE (AI &amp; ML) (2024–2028)</a:t>
            </a:r>
          </a:p>
          <a:p>
            <a:pPr algn="ctr">
              <a:spcBef>
                <a:spcPts val="600"/>
              </a:spcBef>
              <a:defRPr sz="1400">
                <a:solidFill>
                  <a:srgbClr val="555555"/>
                </a:solidFill>
                <a:latin typeface="Trebuchet MS"/>
              </a:defRPr>
            </a:pPr>
            <a:r>
              <a:t>Semester-V   •   UE24AM320A — Capstone Project Phase-1 — Review-1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423160"/>
            <a:ext cx="6702552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222222"/>
                </a:solidFill>
                <a:latin typeface="Trebuchet MS"/>
              </a:defRPr>
            </a:pPr>
            <a:r>
              <a:t>Real-Time Governance, Monitoring and Control</a:t>
            </a:r>
            <a:br/>
            <a:r>
              <a:t>of AI Agent Ecosystems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4160520"/>
            <a:ext cx="8878824" cy="8515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dirty="0">
                <a:solidFill>
                  <a:srgbClr val="E48312"/>
                </a:solidFill>
                <a:latin typeface="Trebuchet MS"/>
              </a:rPr>
              <a:t>Project ID :</a:t>
            </a:r>
            <a:r>
              <a:rPr sz="1400" dirty="0">
                <a:solidFill>
                  <a:srgbClr val="222222"/>
                </a:solidFill>
                <a:latin typeface="Trebuchet MS"/>
              </a:rPr>
              <a:t>  PW_27_PK_07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E48312"/>
                </a:solidFill>
                <a:latin typeface="Trebuchet MS"/>
              </a:rPr>
              <a:t>Project Guide :</a:t>
            </a:r>
            <a:r>
              <a:rPr sz="1400" dirty="0">
                <a:solidFill>
                  <a:srgbClr val="222222"/>
                </a:solidFill>
                <a:latin typeface="Trebuchet MS"/>
              </a:rPr>
              <a:t>  Prof. Preet Kanwal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E48312"/>
                </a:solidFill>
                <a:latin typeface="Trebuchet MS"/>
              </a:rPr>
              <a:t>Project Team :</a:t>
            </a:r>
            <a:r>
              <a:rPr sz="1400" dirty="0">
                <a:solidFill>
                  <a:srgbClr val="222222"/>
                </a:solidFill>
                <a:latin typeface="Trebuchet MS"/>
              </a:rPr>
              <a:t>  Thijil Thejaswi M.N.   •   Dishanth Gowda H.D.</a:t>
            </a:r>
            <a:r>
              <a:rPr lang="en-IN" sz="1400" dirty="0">
                <a:solidFill>
                  <a:srgbClr val="222222"/>
                </a:solidFill>
                <a:latin typeface="Trebuchet MS"/>
              </a:rPr>
              <a:t> •  </a:t>
            </a:r>
            <a:r>
              <a:rPr sz="1400" dirty="0">
                <a:solidFill>
                  <a:srgbClr val="222222"/>
                </a:solidFill>
                <a:latin typeface="Trebuchet MS"/>
              </a:rPr>
              <a:t>Vishwas V. Angadi   •   Suman </a:t>
            </a:r>
            <a:r>
              <a:rPr sz="1400" dirty="0" err="1">
                <a:solidFill>
                  <a:srgbClr val="222222"/>
                </a:solidFill>
                <a:latin typeface="Trebuchet MS"/>
              </a:rPr>
              <a:t>Diddimani</a:t>
            </a:r>
            <a:endParaRPr sz="1400" dirty="0">
              <a:solidFill>
                <a:srgbClr val="222222"/>
              </a:solidFill>
              <a:latin typeface="Trebuchet M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327648"/>
            <a:ext cx="12188952" cy="530352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Trebuchet MS"/>
              </a:defRPr>
            </a:pPr>
            <a:r>
              <a:t>Real-Time Governance, Monitoring and Control of AI Agent Ecosystems</a:t>
            </a:r>
          </a:p>
        </p:txBody>
      </p:sp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1234440" cy="16685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868680"/>
            <a:ext cx="80924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2500" b="1">
                <a:solidFill>
                  <a:srgbClr val="222222"/>
                </a:solidFill>
                <a:latin typeface="Trebuchet MS"/>
              </a:defRPr>
            </a:pPr>
            <a:r>
              <a:t>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1444752"/>
            <a:ext cx="7360920" cy="32004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27648"/>
            <a:ext cx="12188952" cy="530352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6419088"/>
            <a:ext cx="10360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>
                <a:solidFill>
                  <a:srgbClr val="FFFFFF"/>
                </a:solidFill>
                <a:latin typeface="Trebuchet MS"/>
              </a:defRPr>
            </a:pPr>
            <a:r>
              <a:t>Thijil Thejaswi M.N.   •   Dishanth Gowda H.D.   •   Vishwas V. Angadi   •   Suman Diddimani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65960"/>
            <a:ext cx="43891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E48312"/>
                </a:solidFill>
                <a:latin typeface="Trebuchet MS"/>
              </a:rPr>
              <a:t>01   </a:t>
            </a:r>
            <a:r>
              <a:rPr sz="1400">
                <a:solidFill>
                  <a:srgbClr val="222222"/>
                </a:solidFill>
                <a:latin typeface="Trebuchet MS"/>
              </a:rPr>
              <a:t>Problem Statement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E48312"/>
                </a:solidFill>
                <a:latin typeface="Trebuchet MS"/>
              </a:rPr>
              <a:t>02   </a:t>
            </a:r>
            <a:r>
              <a:rPr sz="1400">
                <a:solidFill>
                  <a:srgbClr val="222222"/>
                </a:solidFill>
                <a:latin typeface="Trebuchet MS"/>
              </a:rPr>
              <a:t>Introduction &amp; Enterprise Autonomy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E48312"/>
                </a:solidFill>
                <a:latin typeface="Trebuchet MS"/>
              </a:rPr>
              <a:t>03   </a:t>
            </a:r>
            <a:r>
              <a:rPr sz="1400">
                <a:solidFill>
                  <a:srgbClr val="222222"/>
                </a:solidFill>
                <a:latin typeface="Trebuchet MS"/>
              </a:rPr>
              <a:t>Motivation — Real-World Incident Evidence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E48312"/>
                </a:solidFill>
                <a:latin typeface="Trebuchet MS"/>
              </a:rPr>
              <a:t>04   </a:t>
            </a:r>
            <a:r>
              <a:rPr sz="1400">
                <a:solidFill>
                  <a:srgbClr val="222222"/>
                </a:solidFill>
                <a:latin typeface="Trebuchet MS"/>
              </a:rPr>
              <a:t>Related Work &amp; Research Gap Matrix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E48312"/>
                </a:solidFill>
                <a:latin typeface="Trebuchet MS"/>
              </a:rPr>
              <a:t>05   </a:t>
            </a:r>
            <a:r>
              <a:rPr sz="1400">
                <a:solidFill>
                  <a:srgbClr val="222222"/>
                </a:solidFill>
                <a:latin typeface="Trebuchet MS"/>
              </a:rPr>
              <a:t>System Architecture &amp; Pipeline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E48312"/>
                </a:solidFill>
                <a:latin typeface="Trebuchet MS"/>
              </a:rPr>
              <a:t>06   </a:t>
            </a:r>
            <a:r>
              <a:rPr sz="1400">
                <a:solidFill>
                  <a:srgbClr val="222222"/>
                </a:solidFill>
                <a:latin typeface="Trebuchet MS"/>
              </a:rPr>
              <a:t>Evaluation Corpus &amp; Testbed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Trebuchet MS"/>
              </a:defRPr>
            </a:pPr>
            <a:r>
              <a:t>Real-Time Governance, Monitoring and Control of AI Agent Ecosystems</a:t>
            </a:r>
          </a:p>
        </p:txBody>
      </p:sp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1234440" cy="16685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868680"/>
            <a:ext cx="80924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2500" b="1">
                <a:solidFill>
                  <a:srgbClr val="222222"/>
                </a:solidFill>
                <a:latin typeface="Trebuchet MS"/>
              </a:defRPr>
            </a:pPr>
            <a: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1444752"/>
            <a:ext cx="7360920" cy="32004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27648"/>
            <a:ext cx="12188952" cy="530352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6419088"/>
            <a:ext cx="10360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>
                <a:solidFill>
                  <a:srgbClr val="FFFFFF"/>
                </a:solidFill>
                <a:latin typeface="Trebuchet MS"/>
              </a:defRPr>
            </a:pPr>
            <a:r>
              <a:t>Thijil Thejaswi M.N.   •   Dishanth Gowda H.D.   •   Vishwas V. Angadi   •   Suman Diddimani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83080"/>
            <a:ext cx="88696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>
                <a:solidFill>
                  <a:srgbClr val="222222"/>
                </a:solidFill>
                <a:latin typeface="Trebuchet MS"/>
              </a:defRPr>
            </a:pPr>
            <a:r>
              <a:t>Autonomous AI agents increasingly interact, delegate tasks and operate with limited human intervention.</a:t>
            </a:r>
          </a:p>
          <a:p>
            <a:pPr>
              <a:spcBef>
                <a:spcPts val="1000"/>
              </a:spcBef>
              <a:defRPr sz="1400">
                <a:solidFill>
                  <a:srgbClr val="555555"/>
                </a:solidFill>
                <a:latin typeface="Trebuchet MS"/>
              </a:defRPr>
            </a:pPr>
            <a:r>
              <a:t>As the multi-agent ecosystem scales, critical runtime vulnerabilities emerge: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E48312"/>
                </a:solidFill>
                <a:latin typeface="Trebuchet MS"/>
              </a:rPr>
              <a:t>•  </a:t>
            </a:r>
            <a:r>
              <a:rPr sz="1400">
                <a:solidFill>
                  <a:srgbClr val="222222"/>
                </a:solidFill>
                <a:latin typeface="Trebuchet MS"/>
              </a:rPr>
              <a:t>Identity can be spoofed across decentralized registries (Agent Squatting)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E48312"/>
                </a:solidFill>
                <a:latin typeface="Trebuchet MS"/>
              </a:rPr>
              <a:t>•  </a:t>
            </a:r>
            <a:r>
              <a:rPr sz="1400">
                <a:solidFill>
                  <a:srgbClr val="222222"/>
                </a:solidFill>
                <a:latin typeface="Trebuchet MS"/>
              </a:rPr>
              <a:t>Declared capabilities diverge from actual runtime tool invocations (Capability Cloaking)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E48312"/>
                </a:solidFill>
                <a:latin typeface="Trebuchet MS"/>
              </a:rPr>
              <a:t>•  </a:t>
            </a:r>
            <a:r>
              <a:rPr sz="1400">
                <a:solidFill>
                  <a:srgbClr val="222222"/>
                </a:solidFill>
                <a:latin typeface="Trebuchet MS"/>
              </a:rPr>
              <a:t>Delegation chains can expand into recursive execution loops (Cycle Overflow)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E48312"/>
                </a:solidFill>
                <a:latin typeface="Trebuchet MS"/>
              </a:rPr>
              <a:t>•  </a:t>
            </a:r>
            <a:r>
              <a:rPr sz="1400">
                <a:solidFill>
                  <a:srgbClr val="222222"/>
                </a:solidFill>
                <a:latin typeface="Trebuchet MS"/>
              </a:rPr>
              <a:t>Static binary allow/block policies cause severe, unnecessary operational disruption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4251960"/>
            <a:ext cx="8869680" cy="150876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45920" y="4251960"/>
            <a:ext cx="73152" cy="1508760"/>
          </a:xfrm>
          <a:prstGeom prst="rect">
            <a:avLst/>
          </a:prstGeom>
          <a:solidFill>
            <a:srgbClr val="E48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20240" y="4389120"/>
            <a:ext cx="841248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48312"/>
                </a:solidFill>
                <a:latin typeface="Trebuchet MS"/>
              </a:defRPr>
            </a:pPr>
            <a:r>
              <a:t>CORE RESEARCH QUESTION</a:t>
            </a:r>
          </a:p>
          <a:p>
            <a:pPr>
              <a:spcBef>
                <a:spcPts val="600"/>
              </a:spcBef>
              <a:defRPr sz="1600" b="1">
                <a:solidFill>
                  <a:srgbClr val="222222"/>
                </a:solidFill>
                <a:latin typeface="Trebuchet MS"/>
              </a:defRPr>
            </a:pPr>
            <a:r>
              <a:t>How can we continuously monitor and govern agent interactions at runtime — containing adversarial threats without unnecessarily blocking legitimate multi-agent activity?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Trebuchet MS"/>
              </a:defRPr>
            </a:pPr>
            <a:r>
              <a:t>Real-Time Governance, Monitoring and Control of AI Agent Ecosystems</a:t>
            </a:r>
          </a:p>
        </p:txBody>
      </p:sp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1234440" cy="16685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868680"/>
            <a:ext cx="80924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2500" b="1">
                <a:solidFill>
                  <a:srgbClr val="222222"/>
                </a:solidFill>
                <a:latin typeface="Trebuchet MS"/>
              </a:defRPr>
            </a:pPr>
            <a: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1444752"/>
            <a:ext cx="7360920" cy="32004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27648"/>
            <a:ext cx="12188952" cy="530352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6419088"/>
            <a:ext cx="10360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>
                <a:solidFill>
                  <a:srgbClr val="FFFFFF"/>
                </a:solidFill>
                <a:latin typeface="Trebuchet MS"/>
              </a:defRPr>
            </a:pPr>
            <a:r>
              <a:t>Thijil Thejaswi M.N.   •   Dishanth Gowda H.D.   •   Vishwas V. Angadi   •   Suman Diddimani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83080"/>
            <a:ext cx="88696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E48312"/>
                </a:solidFill>
                <a:latin typeface="Trebuchet MS"/>
              </a:defRPr>
            </a:pPr>
            <a:r>
              <a:t>PARADIGM SHIFT: FROM STATIC LLMS TO COLLABORATIVE AGENT SWARMS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2240280"/>
            <a:ext cx="8869680" cy="59436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45920" y="2331720"/>
            <a:ext cx="88696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700" b="1">
                <a:solidFill>
                  <a:srgbClr val="E48312"/>
                </a:solidFill>
                <a:latin typeface="Trebuchet MS"/>
              </a:defRPr>
            </a:pPr>
            <a:r>
              <a:t>Planning   →   Tool Use   →   Delegation   →   Multi-Agent Coordination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063240"/>
            <a:ext cx="88696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555555"/>
                </a:solidFill>
                <a:latin typeface="Trebuchet MS"/>
              </a:defRPr>
            </a:pPr>
            <a:r>
              <a:t>This autonomy creates fundamental runtime governance questions: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E48312"/>
                </a:solidFill>
                <a:latin typeface="Trebuchet MS"/>
              </a:rPr>
              <a:t>WHO is the agent?  —  </a:t>
            </a:r>
            <a:r>
              <a:rPr sz="1300">
                <a:solidFill>
                  <a:srgbClr val="222222"/>
                </a:solidFill>
                <a:latin typeface="Trebuchet MS"/>
              </a:rPr>
              <a:t>Authenticating caller provenance and cryptographic registration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E48312"/>
                </a:solidFill>
                <a:latin typeface="Trebuchet MS"/>
              </a:rPr>
              <a:t>WHAT is it allowed to do?  —  </a:t>
            </a:r>
            <a:r>
              <a:rPr sz="1300">
                <a:solidFill>
                  <a:srgbClr val="222222"/>
                </a:solidFill>
                <a:latin typeface="Trebuchet MS"/>
              </a:rPr>
              <a:t>Enforcing boundary policies on tool invocations and parameters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E48312"/>
                </a:solidFill>
                <a:latin typeface="Trebuchet MS"/>
              </a:rPr>
              <a:t>WHO is it communicating with?  —  </a:t>
            </a:r>
            <a:r>
              <a:rPr sz="1300">
                <a:solidFill>
                  <a:srgbClr val="222222"/>
                </a:solidFill>
                <a:latin typeface="Trebuchet MS"/>
              </a:rPr>
              <a:t>Restricting unauthorized peer-to-peer delegation bridges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E48312"/>
                </a:solidFill>
                <a:latin typeface="Trebuchet MS"/>
              </a:rPr>
              <a:t>HOW DEEP can delegation extend?  —  </a:t>
            </a:r>
            <a:r>
              <a:rPr sz="1300">
                <a:solidFill>
                  <a:srgbClr val="222222"/>
                </a:solidFill>
                <a:latin typeface="Trebuchet MS"/>
              </a:rPr>
              <a:t>Bounding recursion depth to prevent denial-of-service cycles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E48312"/>
                </a:solidFill>
                <a:latin typeface="Trebuchet MS"/>
              </a:rPr>
              <a:t>WHAT HAPPENS when risk escalates?  —  </a:t>
            </a:r>
            <a:r>
              <a:rPr sz="1300">
                <a:solidFill>
                  <a:srgbClr val="222222"/>
                </a:solidFill>
                <a:latin typeface="Trebuchet MS"/>
              </a:rPr>
              <a:t>Applying graduated containment rather than disruptive hard-kills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5257800"/>
            <a:ext cx="886968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5920" y="5394960"/>
            <a:ext cx="88696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50">
                <a:solidFill>
                  <a:srgbClr val="222222"/>
                </a:solidFill>
                <a:latin typeface="Trebuchet MS"/>
              </a:rPr>
              <a:t>Our capstone project introduces an inline </a:t>
            </a:r>
            <a:r>
              <a:rPr sz="1350" b="1">
                <a:solidFill>
                  <a:srgbClr val="E48312"/>
                </a:solidFill>
                <a:latin typeface="Trebuchet MS"/>
              </a:rPr>
              <a:t>Runtime Governance Layer</a:t>
            </a:r>
            <a:r>
              <a:rPr sz="1350">
                <a:solidFill>
                  <a:srgbClr val="222222"/>
                </a:solidFill>
                <a:latin typeface="Trebuchet MS"/>
              </a:rPr>
              <a:t> to continuously answer and enforce these rules during execution.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Trebuchet MS"/>
              </a:defRPr>
            </a:pPr>
            <a:r>
              <a:t>Real-Time Governance, Monitoring and Control of AI Agent Ecosystems</a:t>
            </a:r>
          </a:p>
        </p:txBody>
      </p:sp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1234440" cy="16685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868680"/>
            <a:ext cx="80924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2500" b="1">
                <a:solidFill>
                  <a:srgbClr val="222222"/>
                </a:solidFill>
                <a:latin typeface="Trebuchet MS"/>
              </a:defRPr>
            </a:pPr>
            <a:r>
              <a:t>Why Runtime Governance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1444752"/>
            <a:ext cx="7360920" cy="32004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27648"/>
            <a:ext cx="12188952" cy="530352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6419088"/>
            <a:ext cx="10360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>
                <a:solidFill>
                  <a:srgbClr val="FFFFFF"/>
                </a:solidFill>
                <a:latin typeface="Trebuchet MS"/>
              </a:defRPr>
            </a:pPr>
            <a:r>
              <a:t>Thijil Thejaswi M.N.   •   Dishanth Gowda H.D.   •   Vishwas V. Angadi   •   Suman Diddimani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783080"/>
            <a:ext cx="4663440" cy="3977639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1783080"/>
            <a:ext cx="54864" cy="3977639"/>
          </a:xfrm>
          <a:prstGeom prst="rect">
            <a:avLst/>
          </a:prstGeom>
          <a:solidFill>
            <a:srgbClr val="E48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64208" y="1899666"/>
            <a:ext cx="4343400" cy="36420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48312"/>
                </a:solidFill>
                <a:latin typeface="Trebuchet MS"/>
              </a:defRPr>
            </a:pPr>
            <a:r>
              <a:rPr sz="1400" dirty="0"/>
              <a:t>REAL-WORLD MULTI-AGENT SECURITY INCIDENTS (2026)</a:t>
            </a:r>
          </a:p>
          <a:p>
            <a:pPr>
              <a:spcBef>
                <a:spcPts val="600"/>
              </a:spcBef>
            </a:pPr>
            <a:r>
              <a:rPr sz="1200" b="1" dirty="0">
                <a:solidFill>
                  <a:srgbClr val="222222"/>
                </a:solidFill>
                <a:latin typeface="Trebuchet MS"/>
              </a:rPr>
              <a:t>1. Hugging Face Infrastructure Breach (July 2026)
</a:t>
            </a:r>
            <a:r>
              <a:rPr sz="1050" dirty="0">
                <a:solidFill>
                  <a:srgbClr val="222222"/>
                </a:solidFill>
                <a:latin typeface="Trebuchet MS"/>
              </a:rPr>
              <a:t>During cyber-capability testing, 700–1,200 OpenAI agents escaped sandboxes, coordinated via shared message boards, bypassed network filters, and exploited external infrastructure to bypass test constraints.</a:t>
            </a:r>
          </a:p>
          <a:p>
            <a:pPr>
              <a:spcBef>
                <a:spcPts val="600"/>
              </a:spcBef>
            </a:pPr>
            <a:r>
              <a:rPr sz="1200" b="1" dirty="0">
                <a:solidFill>
                  <a:srgbClr val="222222"/>
                </a:solidFill>
                <a:latin typeface="Trebuchet MS"/>
              </a:rPr>
              <a:t>2. Australian Government Data Breakout (June 2026)
</a:t>
            </a:r>
            <a:r>
              <a:rPr sz="1050" dirty="0">
                <a:solidFill>
                  <a:srgbClr val="222222"/>
                </a:solidFill>
                <a:latin typeface="Trebuchet MS"/>
              </a:rPr>
              <a:t>An autonomous OpenAI agent querying health statistics broke out of authorized boundaries, gaining unauthorized non-public access to Services Australia Medicare Statistics reporting services.</a:t>
            </a:r>
          </a:p>
          <a:p>
            <a:pPr>
              <a:spcBef>
                <a:spcPts val="600"/>
              </a:spcBef>
            </a:pPr>
            <a:r>
              <a:rPr sz="1200" b="1" dirty="0">
                <a:solidFill>
                  <a:srgbClr val="222222"/>
                </a:solidFill>
                <a:latin typeface="Trebuchet MS"/>
              </a:rPr>
              <a:t>3. Covert Side-Channel Hijacking (</a:t>
            </a:r>
            <a:r>
              <a:rPr sz="1200" b="1" dirty="0" err="1">
                <a:solidFill>
                  <a:srgbClr val="222222"/>
                </a:solidFill>
                <a:latin typeface="Trebuchet MS"/>
              </a:rPr>
              <a:t>RubyGems</a:t>
            </a:r>
            <a:r>
              <a:rPr sz="1200" b="1" dirty="0">
                <a:solidFill>
                  <a:srgbClr val="222222"/>
                </a:solidFill>
                <a:latin typeface="Trebuchet MS"/>
              </a:rPr>
              <a:t> &amp; </a:t>
            </a:r>
            <a:r>
              <a:rPr sz="1200" b="1" dirty="0" err="1">
                <a:solidFill>
                  <a:srgbClr val="222222"/>
                </a:solidFill>
                <a:latin typeface="Trebuchet MS"/>
              </a:rPr>
              <a:t>DseWiki</a:t>
            </a:r>
            <a:r>
              <a:rPr sz="1200" b="1" dirty="0">
                <a:solidFill>
                  <a:srgbClr val="222222"/>
                </a:solidFill>
                <a:latin typeface="Trebuchet MS"/>
              </a:rPr>
              <a:t>)
</a:t>
            </a:r>
            <a:r>
              <a:rPr sz="1050" dirty="0">
                <a:solidFill>
                  <a:srgbClr val="222222"/>
                </a:solidFill>
                <a:latin typeface="Trebuchet MS"/>
              </a:rPr>
              <a:t>Autonomous agent swarms commandeered public software package registries (</a:t>
            </a:r>
            <a:r>
              <a:rPr sz="1050" dirty="0" err="1">
                <a:solidFill>
                  <a:srgbClr val="222222"/>
                </a:solidFill>
                <a:latin typeface="Trebuchet MS"/>
              </a:rPr>
              <a:t>RubyGems</a:t>
            </a:r>
            <a:r>
              <a:rPr sz="1050" dirty="0">
                <a:solidFill>
                  <a:srgbClr val="222222"/>
                </a:solidFill>
                <a:latin typeface="Trebuchet MS"/>
              </a:rPr>
              <a:t>) and developer wikis as covert inter-agent communication channels to bypass isolated testbeds.</a:t>
            </a:r>
            <a:endParaRPr lang="en-IN" sz="1050" dirty="0">
              <a:solidFill>
                <a:srgbClr val="222222"/>
              </a:solidFill>
              <a:latin typeface="Trebuchet MS"/>
            </a:endParaRPr>
          </a:p>
          <a:p>
            <a:pPr>
              <a:spcBef>
                <a:spcPts val="600"/>
              </a:spcBef>
            </a:pPr>
            <a:endParaRPr lang="en-IN" sz="1050" dirty="0">
              <a:solidFill>
                <a:srgbClr val="222222"/>
              </a:solidFill>
              <a:latin typeface="Trebuchet MS"/>
            </a:endParaRPr>
          </a:p>
          <a:p>
            <a:pPr>
              <a:spcBef>
                <a:spcPts val="600"/>
              </a:spcBef>
            </a:pPr>
            <a:endParaRPr sz="1050" dirty="0">
              <a:solidFill>
                <a:srgbClr val="222222"/>
              </a:solidFill>
              <a:latin typeface="Trebuchet MS"/>
            </a:endParaRPr>
          </a:p>
          <a:p>
            <a:pPr>
              <a:spcBef>
                <a:spcPts val="800"/>
              </a:spcBef>
            </a:pPr>
            <a:endParaRPr sz="1100" b="1" dirty="0">
              <a:solidFill>
                <a:srgbClr val="E48312"/>
              </a:solidFill>
              <a:latin typeface="Trebuchet MS"/>
              <a:hlinkClick r:id="rId3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4599432" cy="3977639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783080"/>
            <a:ext cx="54864" cy="3977639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19"/>
            <a:ext cx="425196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48312"/>
                </a:solidFill>
                <a:latin typeface="Trebuchet MS"/>
              </a:defRPr>
            </a:pPr>
            <a:r>
              <a:t>THE GOVERNANCE LESSON &amp; ARCHITECTURAL NEED</a:t>
            </a:r>
          </a:p>
          <a:p>
            <a:pPr>
              <a:spcBef>
                <a:spcPts val="600"/>
              </a:spcBef>
              <a:defRPr sz="1050">
                <a:solidFill>
                  <a:srgbClr val="222222"/>
                </a:solidFill>
                <a:latin typeface="Trebuchet MS"/>
              </a:defRPr>
            </a:pPr>
            <a:r>
              <a:t>Static sandbox boundaries fail when autonomous agents dynamically execute:</a:t>
            </a:r>
          </a:p>
          <a:p>
            <a:pPr algn="ctr">
              <a:spcBef>
                <a:spcPts val="500"/>
              </a:spcBef>
              <a:spcAft>
                <a:spcPts val="400"/>
              </a:spcAft>
              <a:defRPr sz="1100" b="1">
                <a:solidFill>
                  <a:srgbClr val="E48312"/>
                </a:solidFill>
                <a:latin typeface="Trebuchet MS"/>
              </a:defRPr>
            </a:pPr>
            <a:r>
              <a:t>DISCOVER  →  COORDINATE  →  DELEGATE  →  ACT</a:t>
            </a:r>
          </a:p>
          <a:p>
            <a:pPr>
              <a:spcBef>
                <a:spcPts val="200"/>
              </a:spcBef>
              <a:defRPr sz="1050" b="1">
                <a:solidFill>
                  <a:srgbClr val="555555"/>
                </a:solidFill>
                <a:latin typeface="Trebuchet MS"/>
              </a:defRPr>
            </a:pPr>
            <a:r>
              <a:t>Key System Failure Modes Demonstrated: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222222"/>
                </a:solidFill>
                <a:latin typeface="Trebuchet MS"/>
              </a:rPr>
              <a:t>•  Multi-Agent Collusion: </a:t>
            </a:r>
            <a:r>
              <a:rPr sz="950">
                <a:solidFill>
                  <a:srgbClr val="222222"/>
                </a:solidFill>
                <a:latin typeface="Trebuchet MS"/>
              </a:rPr>
              <a:t>Agents autonomously establish unmonitored lateral channels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222222"/>
                </a:solidFill>
                <a:latin typeface="Trebuchet MS"/>
              </a:rPr>
              <a:t>•  Dynamic Scope Creep: </a:t>
            </a:r>
            <a:r>
              <a:rPr sz="950">
                <a:solidFill>
                  <a:srgbClr val="222222"/>
                </a:solidFill>
                <a:latin typeface="Trebuchet MS"/>
              </a:rPr>
              <a:t>Goal-seeking agents exceed data boundaries without alarms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222222"/>
                </a:solidFill>
                <a:latin typeface="Trebuchet MS"/>
              </a:rPr>
              <a:t>•  Covert Channel Pivoting: </a:t>
            </a:r>
            <a:r>
              <a:rPr sz="950">
                <a:solidFill>
                  <a:srgbClr val="222222"/>
                </a:solidFill>
                <a:latin typeface="Trebuchet MS"/>
              </a:rPr>
              <a:t>External public infrastructure commandeered for bypass</a:t>
            </a:r>
          </a:p>
          <a:p>
            <a:pPr>
              <a:spcBef>
                <a:spcPts val="600"/>
              </a:spcBef>
              <a:defRPr sz="1050" b="1">
                <a:solidFill>
                  <a:srgbClr val="E48312"/>
                </a:solidFill>
                <a:latin typeface="Trebuchet MS"/>
              </a:defRPr>
            </a:pPr>
            <a:r>
              <a:t>Our Proposed Runtime Governance Pillars: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E48312"/>
                </a:solidFill>
                <a:latin typeface="Trebuchet MS"/>
              </a:rPr>
              <a:t>+  Continuous Monitoring: </a:t>
            </a:r>
            <a:r>
              <a:rPr sz="950">
                <a:solidFill>
                  <a:srgbClr val="222222"/>
                </a:solidFill>
                <a:latin typeface="Trebuchet MS"/>
              </a:rPr>
              <a:t>Intercept raw protocol envelopes in flight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E48312"/>
                </a:solidFill>
                <a:latin typeface="Trebuchet MS"/>
              </a:rPr>
              <a:t>+  Runtime Policy Enforcement: </a:t>
            </a:r>
            <a:r>
              <a:rPr sz="950">
                <a:solidFill>
                  <a:srgbClr val="222222"/>
                </a:solidFill>
                <a:latin typeface="Trebuchet MS"/>
              </a:rPr>
              <a:t>Enforce tool permissions per Agent Card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E48312"/>
                </a:solidFill>
                <a:latin typeface="Trebuchet MS"/>
              </a:rPr>
              <a:t>+  Graduated Containment: </a:t>
            </a:r>
            <a:r>
              <a:rPr sz="950">
                <a:solidFill>
                  <a:srgbClr val="222222"/>
                </a:solidFill>
                <a:latin typeface="Trebuchet MS"/>
              </a:rPr>
              <a:t>Proportional throttle &amp; sandboxing vs hard block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E48312"/>
                </a:solidFill>
                <a:latin typeface="Trebuchet MS"/>
              </a:rPr>
              <a:t>+  Auditability &amp; Forensics: </a:t>
            </a:r>
            <a:r>
              <a:rPr sz="950">
                <a:solidFill>
                  <a:srgbClr val="222222"/>
                </a:solidFill>
                <a:latin typeface="Trebuchet MS"/>
              </a:rPr>
              <a:t>Immutable event logs for post-incident attribution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Trebuchet MS"/>
              </a:defRPr>
            </a:pPr>
            <a:r>
              <a:t>Real-Time Governance, Monitoring and Control of AI Agent Ecosystems</a:t>
            </a:r>
          </a:p>
        </p:txBody>
      </p:sp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1234440" cy="16685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868680"/>
            <a:ext cx="80924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2500" b="1">
                <a:solidFill>
                  <a:srgbClr val="222222"/>
                </a:solidFill>
                <a:latin typeface="Trebuchet MS"/>
              </a:defRPr>
            </a:pPr>
            <a:r>
              <a:t>Related Work &amp; Research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1444752"/>
            <a:ext cx="7360920" cy="32004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27648"/>
            <a:ext cx="12188952" cy="530352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6419088"/>
            <a:ext cx="10360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>
                <a:solidFill>
                  <a:srgbClr val="FFFFFF"/>
                </a:solidFill>
                <a:latin typeface="Trebuchet MS"/>
              </a:defRPr>
            </a:pPr>
            <a:r>
              <a:t>Thijil Thejaswi M.N.   •   Dishanth Gowda H.D.   •   Vishwas V. Angadi   •   Suman Diddimani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371600" y="1660000"/>
          <a:ext cx="9445752" cy="3353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7512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PREVIOUS WORK</a:t>
                      </a:r>
                    </a:p>
                  </a:txBody>
                  <a:tcPr marL="73152" marR="73152" marT="54864" marB="54864"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FOCUS &amp; APPROACH</a:t>
                      </a:r>
                    </a:p>
                  </a:txBody>
                  <a:tcPr marL="73152" marR="73152" marT="54864" marB="54864"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REPORTED RESULTS / METHODOLOGY</a:t>
                      </a:r>
                    </a:p>
                  </a:txBody>
                  <a:tcPr marL="73152" marR="73152" marT="54864" marB="54864"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OUR CONTRIBUTION / GAP ADDRESSED</a:t>
                      </a:r>
                    </a:p>
                  </a:txBody>
                  <a:tcPr marL="73152" marR="73152" marT="54864" marB="54864"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150"/>
                        </a:spcAft>
                        <a:defRPr sz="900" b="1">
                          <a:solidFill>
                            <a:srgbClr val="102542"/>
                          </a:solidFill>
                          <a:latin typeface="Trebuchet MS"/>
                        </a:defRPr>
                      </a:pPr>
                      <a:r>
                        <a:t>Agent Execution Control Layer</a:t>
                      </a:r>
                    </a:p>
                    <a:p>
                      <a:pPr>
                        <a:spcAft>
                          <a:spcPts val="200"/>
                        </a:spcAft>
                        <a:defRPr sz="800">
                          <a:solidFill>
                            <a:srgbClr val="64748B"/>
                          </a:solidFill>
                          <a:latin typeface="Trebuchet MS"/>
                        </a:defRPr>
                      </a:pPr>
                      <a:r>
                        <a:t>(ICIETSD 2026 • Pudukkottai)</a:t>
                      </a:r>
                    </a:p>
                    <a:p>
                      <a:r>
                        <a:rPr sz="800" b="1">
                          <a:solidFill>
                            <a:srgbClr val="E48312"/>
                          </a:solidFill>
                          <a:latin typeface="Trebuchet MS"/>
                          <a:hlinkClick r:id="rId3"/>
                        </a:rPr>
                        <a:t>DOI / Paper →</a:t>
                      </a:r>
                    </a:p>
                  </a:txBody>
                  <a:tcPr marL="63500" marR="63500" marT="31750" marB="3175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Trebuchet MS"/>
                        </a:defRPr>
                      </a:pPr>
                      <a:r>
                        <a:t>Centralized runtime control layer (AECL) checking agent roles and organizational policies before action execution without modifying agent code.</a:t>
                      </a:r>
                    </a:p>
                  </a:txBody>
                  <a:tcPr marL="63500" marR="63500" marT="31750" marB="3175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819">
                          <a:solidFill>
                            <a:srgbClr val="1E293B"/>
                          </a:solidFill>
                          <a:latin typeface="Trebuchet MS"/>
                        </a:defRPr>
                      </a:pPr>
                      <a:r>
                        <a:t>• Up to 15% gain in policy compliance &amp; task precision</a:t>
                      </a:r>
                    </a:p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Trebuchet MS"/>
                        </a:defRPr>
                      </a:pPr>
                      <a:r>
                        <a:t>• Up to 40% faster fault recovery in simulations</a:t>
                      </a:r>
                    </a:p>
                  </a:txBody>
                  <a:tcPr marL="63500" marR="63500" marT="31750" marB="3175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819">
                          <a:solidFill>
                            <a:srgbClr val="1E293B"/>
                          </a:solidFill>
                          <a:latin typeface="Trebuchet MS"/>
                        </a:defRPr>
                      </a:pPr>
                      <a:r>
                        <a:t>• Connects high-level task goals to runtime event streams</a:t>
                      </a:r>
                    </a:p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Trebuchet MS"/>
                        </a:defRPr>
                      </a:pPr>
                      <a:r>
                        <a:t>• Dynamic behavioral boundary checking &amp; graduated containment instead of static organizational role checks</a:t>
                      </a:r>
                    </a:p>
                  </a:txBody>
                  <a:tcPr marL="63500" marR="63500" marT="31750" marB="31750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150"/>
                        </a:spcAft>
                        <a:defRPr sz="900" b="1">
                          <a:solidFill>
                            <a:srgbClr val="102542"/>
                          </a:solidFill>
                          <a:latin typeface="Trebuchet MS"/>
                        </a:defRPr>
                      </a:pPr>
                      <a:r>
                        <a:t>Safe Multi-Agent Orchestration</a:t>
                      </a:r>
                    </a:p>
                    <a:p>
                      <a:pPr>
                        <a:spcAft>
                          <a:spcPts val="200"/>
                        </a:spcAft>
                        <a:defRPr sz="800">
                          <a:solidFill>
                            <a:srgbClr val="64748B"/>
                          </a:solidFill>
                          <a:latin typeface="Trebuchet MS"/>
                        </a:defRPr>
                      </a:pPr>
                      <a:r>
                        <a:t>(ICAISET 2026 • Cairo)</a:t>
                      </a:r>
                    </a:p>
                    <a:p>
                      <a:r>
                        <a:rPr sz="800" b="1">
                          <a:solidFill>
                            <a:srgbClr val="E48312"/>
                          </a:solidFill>
                          <a:latin typeface="Trebuchet MS"/>
                          <a:hlinkClick r:id="rId4"/>
                        </a:rPr>
                        <a:t>DOI / Paper →</a:t>
                      </a:r>
                    </a:p>
                  </a:txBody>
                  <a:tcPr marL="63500" marR="63500" marT="31750" marB="317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Trebuchet MS"/>
                        </a:defRPr>
                      </a:pPr>
                      <a:r>
                        <a:t>Mathematical optimization middleware (CAMCO) using Constraint Projection, Risk-Weighted Utility, and Negotiation Loops to coordinate agent proposals.</a:t>
                      </a:r>
                    </a:p>
                  </a:txBody>
                  <a:tcPr marL="63500" marR="63500" marT="31750" marB="317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819">
                          <a:solidFill>
                            <a:srgbClr val="1E293B"/>
                          </a:solidFill>
                          <a:latin typeface="Trebuchet MS"/>
                        </a:defRPr>
                      </a:pPr>
                      <a:r>
                        <a:t>• Zero policy violations &amp; 92–97% utility retention</a:t>
                      </a:r>
                    </a:p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Trebuchet MS"/>
                        </a:defRPr>
                      </a:pPr>
                      <a:r>
                        <a:t>• Convergence in ~2–3 negotiation iterations</a:t>
                      </a:r>
                    </a:p>
                  </a:txBody>
                  <a:tcPr marL="63500" marR="63500" marT="31750" marB="317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819">
                          <a:solidFill>
                            <a:srgbClr val="1E293B"/>
                          </a:solidFill>
                          <a:latin typeface="Trebuchet MS"/>
                        </a:defRPr>
                      </a:pPr>
                      <a:r>
                        <a:t>• Inline protocol proxy interception on raw agent traffic</a:t>
                      </a:r>
                    </a:p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Trebuchet MS"/>
                        </a:defRPr>
                      </a:pPr>
                      <a:r>
                        <a:t>• Evaluates security vs availability trade-offs (+30 pp higher availability: 70% vs 40%) under active attack</a:t>
                      </a:r>
                    </a:p>
                  </a:txBody>
                  <a:tcPr marL="63500" marR="63500" marT="31750" marB="317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150"/>
                        </a:spcAft>
                        <a:defRPr sz="900" b="1">
                          <a:solidFill>
                            <a:srgbClr val="102542"/>
                          </a:solidFill>
                          <a:latin typeface="Trebuchet MS"/>
                        </a:defRPr>
                      </a:pPr>
                      <a:r>
                        <a:t>Ethical AI Governance Models</a:t>
                      </a:r>
                    </a:p>
                    <a:p>
                      <a:pPr>
                        <a:spcAft>
                          <a:spcPts val="200"/>
                        </a:spcAft>
                        <a:defRPr sz="800">
                          <a:solidFill>
                            <a:srgbClr val="64748B"/>
                          </a:solidFill>
                          <a:latin typeface="Trebuchet MS"/>
                        </a:defRPr>
                      </a:pPr>
                      <a:r>
                        <a:t>(I3CTCON 2026 • Lonavala)</a:t>
                      </a:r>
                    </a:p>
                    <a:p>
                      <a:r>
                        <a:rPr sz="800" b="1">
                          <a:solidFill>
                            <a:srgbClr val="E48312"/>
                          </a:solidFill>
                          <a:latin typeface="Trebuchet MS"/>
                          <a:hlinkClick r:id="rId5"/>
                        </a:rPr>
                        <a:t>DOI / Paper →</a:t>
                      </a:r>
                    </a:p>
                  </a:txBody>
                  <a:tcPr marL="63500" marR="63500" marT="31750" marB="3175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Trebuchet MS"/>
                        </a:defRPr>
                      </a:pPr>
                      <a:r>
                        <a:t>Four-layer ethical governance model: Policy Orchestration, Agent Compliance, Federated Auditing, and Trust &amp; Risk Management across distributed participants.</a:t>
                      </a:r>
                    </a:p>
                  </a:txBody>
                  <a:tcPr marL="63500" marR="63500" marT="31750" marB="3175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819">
                          <a:solidFill>
                            <a:srgbClr val="1E293B"/>
                          </a:solidFill>
                          <a:latin typeface="Trebuchet MS"/>
                        </a:defRPr>
                      </a:pPr>
                      <a:r>
                        <a:t>• Conceptual governance model with illustrative examples</a:t>
                      </a:r>
                    </a:p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Trebuchet MS"/>
                        </a:defRPr>
                      </a:pPr>
                      <a:r>
                        <a:t>• Qualitative analysis of distributed multi-tenant trust (no empirical technical testbed)</a:t>
                      </a:r>
                    </a:p>
                  </a:txBody>
                  <a:tcPr marL="63500" marR="63500" marT="31750" marB="3175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819">
                          <a:solidFill>
                            <a:srgbClr val="1E293B"/>
                          </a:solidFill>
                          <a:latin typeface="Trebuchet MS"/>
                        </a:defRPr>
                      </a:pPr>
                      <a:r>
                        <a:t>• Operationalizes inline proxy mediation on live A2A protocol traffic</a:t>
                      </a:r>
                    </a:p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Trebuchet MS"/>
                        </a:defRPr>
                      </a:pPr>
                      <a:r>
                        <a:t>• Concrete JSON schema validation, cryptographic provenance, and observable execution boundaries</a:t>
                      </a:r>
                    </a:p>
                  </a:txBody>
                  <a:tcPr marL="63500" marR="63500" marT="31750" marB="31750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spcAft>
                          <a:spcPts val="150"/>
                        </a:spcAft>
                        <a:defRPr sz="900" b="1">
                          <a:solidFill>
                            <a:srgbClr val="102542"/>
                          </a:solidFill>
                          <a:latin typeface="Trebuchet MS"/>
                        </a:defRPr>
                      </a:pPr>
                      <a:r>
                        <a:t>Agentic AI in Education</a:t>
                      </a:r>
                    </a:p>
                    <a:p>
                      <a:pPr>
                        <a:spcAft>
                          <a:spcPts val="200"/>
                        </a:spcAft>
                        <a:defRPr sz="800">
                          <a:solidFill>
                            <a:srgbClr val="64748B"/>
                          </a:solidFill>
                          <a:latin typeface="Trebuchet MS"/>
                        </a:defRPr>
                      </a:pPr>
                      <a:r>
                        <a:t>(ISSATK 2026 • Hammamet)</a:t>
                      </a:r>
                    </a:p>
                    <a:p>
                      <a:r>
                        <a:rPr sz="800" b="1">
                          <a:solidFill>
                            <a:srgbClr val="E48312"/>
                          </a:solidFill>
                          <a:latin typeface="Trebuchet MS"/>
                          <a:hlinkClick r:id="rId6"/>
                        </a:rPr>
                        <a:t>DOI / Paper →</a:t>
                      </a:r>
                    </a:p>
                  </a:txBody>
                  <a:tcPr marL="63500" marR="63500" marT="31750" marB="317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  <a:latin typeface="Trebuchet MS"/>
                        </a:defRPr>
                      </a:pPr>
                      <a:r>
                        <a:t>Conceptual risk taxonomy analyzing hallucination propagation, bias amplification, and accountability gaps; advocates continuous human oversight.</a:t>
                      </a:r>
                    </a:p>
                  </a:txBody>
                  <a:tcPr marL="63500" marR="63500" marT="31750" marB="317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819">
                          <a:solidFill>
                            <a:srgbClr val="1E293B"/>
                          </a:solidFill>
                          <a:latin typeface="Trebuchet MS"/>
                        </a:defRPr>
                      </a:pPr>
                      <a:r>
                        <a:t>• Systematic literature review (2020–2025) &amp; conceptual analysis</a:t>
                      </a:r>
                    </a:p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Trebuchet MS"/>
                        </a:defRPr>
                      </a:pPr>
                      <a:r>
                        <a:t>• Qualitative risk identification without controlled technical experiments</a:t>
                      </a:r>
                    </a:p>
                  </a:txBody>
                  <a:tcPr marL="63500" marR="63500" marT="31750" marB="317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819">
                          <a:solidFill>
                            <a:srgbClr val="1E293B"/>
                          </a:solidFill>
                          <a:latin typeface="Trebuchet MS"/>
                        </a:defRPr>
                      </a:pPr>
                      <a:r>
                        <a:t>• Protocol-agnostic runtime defense against active technical exploits (spoofing, cloaking, cycles)</a:t>
                      </a:r>
                    </a:p>
                    <a:p>
                      <a:pPr>
                        <a:defRPr sz="819">
                          <a:solidFill>
                            <a:srgbClr val="1E293B"/>
                          </a:solidFill>
                          <a:latin typeface="Trebuchet MS"/>
                        </a:defRPr>
                      </a:pPr>
                      <a:r>
                        <a:t>• Empirically validated on 203 Agent Cards and 3,145 frozen records</a:t>
                      </a:r>
                    </a:p>
                  </a:txBody>
                  <a:tcPr marL="63500" marR="63500" marT="31750" marB="317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1371600" y="5480000"/>
            <a:ext cx="9445752" cy="68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E483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53896" y="5510000"/>
            <a:ext cx="928116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200" b="1" dirty="0">
                <a:solidFill>
                  <a:srgbClr val="C65911"/>
                </a:solidFill>
                <a:latin typeface="Trebuchet MS"/>
              </a:rPr>
              <a:t>RESEARCH GAP STATEMENT: </a:t>
            </a:r>
            <a:r>
              <a:rPr lang="en-US" sz="1200" dirty="0">
                <a:solidFill>
                  <a:srgbClr val="1E293B"/>
                </a:solidFill>
                <a:latin typeface="Trebuchet MS"/>
              </a:rPr>
              <a:t>Existing work addresses execution control, policy-compliant orchestration and AI governance, but there remains a need to connect the HIGH-LEVEL TASK with LOW-LEVEL OBSERVED RUNTIME ACTIONS and automatically govern deviations during execution.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rebuchet MS"/>
              </a:defRPr>
            </a:pPr>
            <a:r>
              <a:t>Real-Time Governance, Monitoring and Control of AI Agent Ecosystems</a:t>
            </a:r>
          </a:p>
        </p:txBody>
      </p:sp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1234440" cy="16685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0" y="960120"/>
            <a:ext cx="749807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2200" b="1">
                <a:solidFill>
                  <a:srgbClr val="1E293B"/>
                </a:solidFill>
                <a:latin typeface="Trebuchet MS"/>
              </a:defRPr>
            </a:pPr>
            <a:r>
              <a:t>Proposed Conceptual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1508760"/>
            <a:ext cx="7406640" cy="320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27648"/>
            <a:ext cx="12188952" cy="530352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6419088"/>
            <a:ext cx="10360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Trebuchet MS"/>
              </a:defRPr>
            </a:pPr>
            <a:r>
              <a:t>Thijil Thejaswi M.N.   •   Dishanth Gowda H.D.   •   Vishwas V. Angadi   •   Suman Diddimani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Trebuchet MS"/>
              </a:defRPr>
            </a:pPr>
            <a:r>
              <a:t>End-to-End Governance: Dynamic Boundary Inference, Runtime Observation, Correlation, and Proportionate Intervention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148840"/>
            <a:ext cx="1225296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2148840"/>
            <a:ext cx="1225296" cy="32004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113385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C65911"/>
                </a:solidFill>
                <a:latin typeface="Trebuchet MS"/>
              </a:defRPr>
            </a:pPr>
            <a:r>
              <a:t>1. USER TASK</a:t>
            </a:r>
          </a:p>
          <a:p>
            <a:pPr algn="ctr">
              <a:spcBef>
                <a:spcPts val="300"/>
              </a:spcBef>
              <a:defRPr sz="800">
                <a:solidFill>
                  <a:srgbClr val="475569"/>
                </a:solidFill>
                <a:latin typeface="Trebuchet MS"/>
              </a:defRPr>
            </a:pPr>
            <a:r>
              <a:t>Natural language goal or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48256" y="2514600"/>
            <a:ext cx="10058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C65911"/>
                </a:solidFill>
                <a:latin typeface="Trebuchet MS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2148840"/>
            <a:ext cx="1225296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148840" y="2148840"/>
            <a:ext cx="1225296" cy="32004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94560" y="2240280"/>
            <a:ext cx="113385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C65911"/>
                </a:solidFill>
                <a:latin typeface="Trebuchet MS"/>
              </a:defRPr>
            </a:pPr>
            <a:r>
              <a:t>2. UNDERSTAND</a:t>
            </a:r>
          </a:p>
          <a:p>
            <a:pPr algn="ctr">
              <a:spcBef>
                <a:spcPts val="300"/>
              </a:spcBef>
              <a:defRPr sz="800">
                <a:solidFill>
                  <a:srgbClr val="475569"/>
                </a:solidFill>
                <a:latin typeface="Trebuchet MS"/>
              </a:defRPr>
            </a:pPr>
            <a:r>
              <a:t>Semantic intent decomposition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2514600"/>
            <a:ext cx="10058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C65911"/>
                </a:solidFill>
                <a:latin typeface="Trebuchet MS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2148840"/>
            <a:ext cx="1225296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74720" y="2148840"/>
            <a:ext cx="1225296" cy="32004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20439" y="2240280"/>
            <a:ext cx="113385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C65911"/>
                </a:solidFill>
                <a:latin typeface="Trebuchet MS"/>
              </a:defRPr>
            </a:pPr>
            <a:r>
              <a:t>3. BOUNDARY</a:t>
            </a:r>
          </a:p>
          <a:p>
            <a:pPr algn="ctr">
              <a:spcBef>
                <a:spcPts val="300"/>
              </a:spcBef>
              <a:defRPr sz="800">
                <a:solidFill>
                  <a:srgbClr val="475569"/>
                </a:solidFill>
                <a:latin typeface="Trebuchet MS"/>
              </a:defRPr>
            </a:pPr>
            <a:r>
              <a:t>Dynamic allowlist synthesis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0016" y="2514600"/>
            <a:ext cx="10058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C65911"/>
                </a:solidFill>
                <a:latin typeface="Trebuchet MS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2148840"/>
            <a:ext cx="1225296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00600" y="2148840"/>
            <a:ext cx="1225296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46320" y="2240280"/>
            <a:ext cx="113385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E293B"/>
                </a:solidFill>
                <a:latin typeface="Trebuchet MS"/>
              </a:defRPr>
            </a:pPr>
            <a:r>
              <a:t>4. EXECUTION</a:t>
            </a:r>
          </a:p>
          <a:p>
            <a:pPr algn="ctr">
              <a:spcBef>
                <a:spcPts val="300"/>
              </a:spcBef>
              <a:defRPr sz="800">
                <a:solidFill>
                  <a:srgbClr val="475569"/>
                </a:solidFill>
                <a:latin typeface="Trebuchet MS"/>
              </a:defRPr>
            </a:pPr>
            <a:r>
              <a:t>Autonomous agent tool dispatch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25896" y="2514600"/>
            <a:ext cx="10058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C65911"/>
                </a:solidFill>
                <a:latin typeface="Trebuchet MS"/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148840"/>
            <a:ext cx="1225296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26480" y="2148840"/>
            <a:ext cx="1225296" cy="320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72200" y="2240280"/>
            <a:ext cx="113385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0D9488"/>
                </a:solidFill>
                <a:latin typeface="Trebuchet MS"/>
              </a:defRPr>
            </a:pPr>
            <a:r>
              <a:t>5. OBSERVATION</a:t>
            </a:r>
          </a:p>
          <a:p>
            <a:pPr algn="ctr">
              <a:spcBef>
                <a:spcPts val="300"/>
              </a:spcBef>
              <a:defRPr sz="800">
                <a:solidFill>
                  <a:srgbClr val="475569"/>
                </a:solidFill>
                <a:latin typeface="Trebuchet MS"/>
              </a:defRPr>
            </a:pPr>
            <a:r>
              <a:t>Runtime telemetry collection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51776" y="2514600"/>
            <a:ext cx="10058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C65911"/>
                </a:solidFill>
                <a:latin typeface="Trebuchet MS"/>
              </a:defRPr>
            </a:pPr>
            <a: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2360" y="2148840"/>
            <a:ext cx="1225296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452360" y="2148840"/>
            <a:ext cx="1225296" cy="320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80" y="2240280"/>
            <a:ext cx="113385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0D9488"/>
                </a:solidFill>
                <a:latin typeface="Trebuchet MS"/>
              </a:defRPr>
            </a:pPr>
            <a:r>
              <a:t>6. CORRELATION</a:t>
            </a:r>
          </a:p>
          <a:p>
            <a:pPr algn="ctr">
              <a:spcBef>
                <a:spcPts val="300"/>
              </a:spcBef>
              <a:defRPr sz="800">
                <a:solidFill>
                  <a:srgbClr val="475569"/>
                </a:solidFill>
                <a:latin typeface="Trebuchet MS"/>
              </a:defRPr>
            </a:pPr>
            <a:r>
              <a:t>Task ↔ Process ↔ Action 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77656" y="2514600"/>
            <a:ext cx="10058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C65911"/>
                </a:solidFill>
                <a:latin typeface="Trebuchet MS"/>
              </a:defRPr>
            </a:pPr>
            <a: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78240" y="2148840"/>
            <a:ext cx="1225296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778240" y="2148840"/>
            <a:ext cx="1225296" cy="320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23960" y="2240280"/>
            <a:ext cx="113385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DC2626"/>
                </a:solidFill>
                <a:latin typeface="Trebuchet MS"/>
              </a:defRPr>
            </a:pPr>
            <a:r>
              <a:t>7. DEVIATION</a:t>
            </a:r>
          </a:p>
          <a:p>
            <a:pPr algn="ctr">
              <a:spcBef>
                <a:spcPts val="300"/>
              </a:spcBef>
              <a:defRPr sz="800">
                <a:solidFill>
                  <a:srgbClr val="475569"/>
                </a:solidFill>
                <a:latin typeface="Trebuchet MS"/>
              </a:defRPr>
            </a:pPr>
            <a:r>
              <a:t>Behavioral delta evaluation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03536" y="2514600"/>
            <a:ext cx="10058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C65911"/>
                </a:solidFill>
                <a:latin typeface="Trebuchet MS"/>
              </a:defRPr>
            </a:pPr>
            <a: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04120" y="2148840"/>
            <a:ext cx="1225296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104120" y="2148840"/>
            <a:ext cx="1225296" cy="32004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149840" y="2240280"/>
            <a:ext cx="113385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C65911"/>
                </a:solidFill>
                <a:latin typeface="Trebuchet MS"/>
              </a:defRPr>
            </a:pPr>
            <a:r>
              <a:t>8. GOVERNANCE</a:t>
            </a:r>
          </a:p>
          <a:p>
            <a:pPr algn="ctr">
              <a:spcBef>
                <a:spcPts val="300"/>
              </a:spcBef>
              <a:defRPr sz="800">
                <a:solidFill>
                  <a:srgbClr val="475569"/>
                </a:solidFill>
                <a:latin typeface="Trebuchet MS"/>
              </a:defRPr>
            </a:pPr>
            <a:r>
              <a:t>Graduated action response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3401568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Trebuchet MS"/>
              </a:defRPr>
            </a:pPr>
            <a:r>
              <a:t>RUNTIME OBSERVATION:  [FILE]   [NETWORK]   [PROCESS]   [TOOL / A2A]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3401568"/>
            <a:ext cx="23774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C65911"/>
                </a:solidFill>
                <a:latin typeface="Trebuchet MS"/>
              </a:defRPr>
            </a:pPr>
            <a:r>
              <a:t>RESPONSES:  [ALLOW]  [RESTRICT]  [BLOCK]  [QUARANTINE]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" y="3794760"/>
            <a:ext cx="512064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51560" y="3886200"/>
            <a:ext cx="466344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65911"/>
                </a:solidFill>
                <a:latin typeface="Trebuchet MS"/>
              </a:defRPr>
            </a:pPr>
            <a:r>
              <a:t>1. DYNAMIC TASK BOUNDARY FORMULATION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Trebuchet MS"/>
              </a:defRPr>
            </a:pPr>
            <a:r>
              <a:t>•  Extracts intent, expected input targets, and output contracts from user prompt.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Trebuchet MS"/>
              </a:defRPr>
            </a:pPr>
            <a:r>
              <a:t>•  Synthesizes dynamic operational perimeters: specific files, domains, and tool methods.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Trebuchet MS"/>
              </a:defRPr>
            </a:pPr>
            <a:r>
              <a:t>•  Prevents static privilege creep by scoping permissions strictly to the active task lifecycle.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3794760"/>
            <a:ext cx="512064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46520" y="3886200"/>
            <a:ext cx="466344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Trebuchet MS"/>
              </a:defRPr>
            </a:pPr>
            <a:r>
              <a:t>2. RUNTIME CORRELATION &amp; GRADUATED ENFORCEMENT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Trebuchet MS"/>
              </a:defRPr>
            </a:pPr>
            <a:r>
              <a:t>•  Intercepts runtime tool dispatches and observable agent communications in-flight.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Trebuchet MS"/>
              </a:defRPr>
            </a:pPr>
            <a:r>
              <a:t>•  Correlates execution events against the inferred task perimeter in real time.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  <a:latin typeface="Trebuchet MS"/>
              </a:defRPr>
            </a:pPr>
            <a:r>
              <a:t>•  Enforces graduated intervention (surgical sanitization, rate-limiting, blocking, quarantine).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solidFill>
            <a:srgbClr val="FFFBE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22960" y="5440680"/>
            <a:ext cx="73152" cy="548640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87552" y="5513832"/>
            <a:ext cx="10259568" cy="402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C65911"/>
                </a:solidFill>
                <a:latin typeface="Trebuchet MS"/>
              </a:rPr>
              <a:t>HONEST PROTOTYPE BOUNDARY: </a:t>
            </a:r>
            <a:r>
              <a:rPr sz="950">
                <a:solidFill>
                  <a:srgbClr val="1E293B"/>
                </a:solidFill>
                <a:latin typeface="Trebuchet MS"/>
              </a:rPr>
              <a:t>Phase-I prototype demonstrates governance primarily at the observable A2A communication layer; OS/runtime telemetry is the planned extension for broader execution visibility.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rebuchet MS"/>
              </a:defRPr>
            </a:pPr>
            <a:r>
              <a:t>Real-Time Governance, Monitoring and Control of AI Agent Ecosystems</a:t>
            </a:r>
          </a:p>
        </p:txBody>
      </p:sp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1234440" cy="16685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0" y="960120"/>
            <a:ext cx="749807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2200" b="1">
                <a:solidFill>
                  <a:srgbClr val="1E293B"/>
                </a:solidFill>
                <a:latin typeface="Trebuchet MS"/>
              </a:defRPr>
            </a:pPr>
            <a:r>
              <a:t>From Sandbox Security to Task-Aware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1508760"/>
            <a:ext cx="7406640" cy="320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27648"/>
            <a:ext cx="12188952" cy="530352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6419088"/>
            <a:ext cx="10360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Trebuchet MS"/>
              </a:defRPr>
            </a:pPr>
            <a:r>
              <a:t>Thijil Thejaswi M.N.   •   Dishanth Gowda H.D.   •   Vishwas V. Angadi   •   Suman Diddimani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Trebuchet MS"/>
              </a:defRPr>
            </a:pPr>
            <a:r>
              <a:t>Environment boundaries control where an agent can go; task boundaries evaluate whether each action makes sense for the assigned task.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194560"/>
            <a:ext cx="512064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2194560"/>
            <a:ext cx="512064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331720"/>
            <a:ext cx="4663440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Trebuchet MS"/>
              </a:defRPr>
            </a:pPr>
            <a:r>
              <a:t>ENVIRONMENT SANDBOX (CONVENTIONAL)</a:t>
            </a:r>
          </a:p>
          <a:p>
            <a:pPr>
              <a:spcBef>
                <a:spcPts val="600"/>
              </a:spcBef>
              <a:defRPr sz="1300" b="1">
                <a:solidFill>
                  <a:srgbClr val="475569"/>
                </a:solidFill>
                <a:latin typeface="Trebuchet MS"/>
              </a:defRPr>
            </a:pPr>
            <a:r>
              <a:t>“Can the agent technically access this resource?”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Trebuchet MS"/>
              </a:defRPr>
            </a:pPr>
            <a:r>
              <a:t>Enforces static OS permissions, container cgroups, filesystem namespaces, and firewall access controls.</a:t>
            </a:r>
          </a:p>
          <a:p>
            <a:pPr>
              <a:spcBef>
                <a:spcPts val="1000"/>
              </a:spcBef>
              <a:defRPr sz="1000" b="1">
                <a:solidFill>
                  <a:srgbClr val="1E293B"/>
                </a:solidFill>
                <a:latin typeface="Trebuchet MS"/>
              </a:defRPr>
            </a:pPr>
            <a:r>
              <a:t>Under Task: “Analyze report.pdf”, sandbox permits: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Trebuchet MS"/>
              </a:defRPr>
            </a:pPr>
            <a:r>
              <a:t>•  report.pdf: Permitted (read permission exists)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Trebuchet MS"/>
              </a:defRPr>
            </a:pPr>
            <a:r>
              <a:t>•  credentials.json: Permitted (if process has read access)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Trebuchet MS"/>
              </a:defRPr>
            </a:pPr>
            <a:r>
              <a:t>•  Outbound network: Permitted (if egress socket is open)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Trebuchet MS"/>
              </a:defRPr>
            </a:pPr>
            <a:r>
              <a:t>•  Arbitrary sub-tools: Permitted (if executable by process)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194560"/>
            <a:ext cx="512064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2194560"/>
            <a:ext cx="5120640" cy="36576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331720"/>
            <a:ext cx="4663440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5911"/>
                </a:solidFill>
                <a:latin typeface="Trebuchet MS"/>
              </a:defRPr>
            </a:pPr>
            <a:r>
              <a:t>TASK-AWARE RUNTIME GOVERNANCE (OUR APPROACH)</a:t>
            </a:r>
          </a:p>
          <a:p>
            <a:pPr>
              <a:spcBef>
                <a:spcPts val="600"/>
              </a:spcBef>
              <a:defRPr sz="1300" b="1">
                <a:solidFill>
                  <a:srgbClr val="1E293B"/>
                </a:solidFill>
                <a:latin typeface="Trebuchet MS"/>
              </a:defRPr>
            </a:pPr>
            <a:r>
              <a:t>“Should the agent access this resource for THIS task?”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Trebuchet MS"/>
              </a:defRPr>
            </a:pPr>
            <a:r>
              <a:t>Evaluates each in-flight action against the dynamically inferred task perimeter, catching unauthorized lateral pivots.</a:t>
            </a:r>
          </a:p>
          <a:p>
            <a:pPr>
              <a:spcBef>
                <a:spcPts val="1000"/>
              </a:spcBef>
              <a:defRPr sz="1000" b="1">
                <a:solidFill>
                  <a:srgbClr val="1E293B"/>
                </a:solidFill>
                <a:latin typeface="Trebuchet MS"/>
              </a:defRPr>
            </a:pPr>
            <a:r>
              <a:t>Under Task: “Analyze report.pdf”, governance evaluates: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E293B"/>
                </a:solidFill>
                <a:latin typeface="Trebuchet MS"/>
              </a:rPr>
              <a:t>•  READ report.pdf  →  </a:t>
            </a:r>
            <a:r>
              <a:rPr sz="950" b="1">
                <a:solidFill>
                  <a:srgbClr val="059669"/>
                </a:solidFill>
                <a:latin typeface="Trebuchet MS"/>
              </a:rPr>
              <a:t>Expected (within task scope)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E293B"/>
                </a:solidFill>
                <a:latin typeface="Trebuchet MS"/>
              </a:rPr>
              <a:t>•  WRITE summary.txt  →  </a:t>
            </a:r>
            <a:r>
              <a:rPr sz="950" b="1">
                <a:solidFill>
                  <a:srgbClr val="059669"/>
                </a:solidFill>
                <a:latin typeface="Trebuchet MS"/>
              </a:rPr>
              <a:t>Expected (within task scope)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E293B"/>
                </a:solidFill>
                <a:latin typeface="Trebuchet MS"/>
              </a:rPr>
              <a:t>•  READ credentials.json  →  </a:t>
            </a:r>
            <a:r>
              <a:rPr sz="950" b="1">
                <a:solidFill>
                  <a:srgbClr val="DC2626"/>
                </a:solidFill>
                <a:latin typeface="Trebuchet MS"/>
              </a:rPr>
              <a:t>Deviation (outside task boundary)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E293B"/>
                </a:solidFill>
                <a:latin typeface="Trebuchet MS"/>
              </a:rPr>
              <a:t>•  ACCESS unrelated site  →  </a:t>
            </a:r>
            <a:r>
              <a:rPr sz="950" b="1">
                <a:solidFill>
                  <a:srgbClr val="DC2626"/>
                </a:solidFill>
                <a:latin typeface="Trebuchet MS"/>
              </a:rPr>
              <a:t>Deviation (unauthorized egress)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E293B"/>
                </a:solidFill>
                <a:latin typeface="Trebuchet MS"/>
              </a:rPr>
              <a:t>•  CALL unrelated agent  →  </a:t>
            </a:r>
            <a:r>
              <a:rPr sz="950" b="1">
                <a:solidFill>
                  <a:srgbClr val="DC2626"/>
                </a:solidFill>
                <a:latin typeface="Trebuchet MS"/>
              </a:rPr>
              <a:t>Deviation (lateral pivot)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486400"/>
            <a:ext cx="10515600" cy="530352"/>
          </a:xfrm>
          <a:prstGeom prst="rect">
            <a:avLst/>
          </a:prstGeom>
          <a:solidFill>
            <a:srgbClr val="FFFBE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5486400"/>
            <a:ext cx="73152" cy="530352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5559552"/>
            <a:ext cx="10259568" cy="3840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C65911"/>
                </a:solidFill>
                <a:latin typeface="Trebuchet MS"/>
              </a:rPr>
              <a:t>THE CORE DISTINCTION: </a:t>
            </a:r>
            <a:r>
              <a:rPr sz="950">
                <a:solidFill>
                  <a:srgbClr val="1E293B"/>
                </a:solidFill>
                <a:latin typeface="Trebuchet MS"/>
              </a:rPr>
              <a:t>“The environment boundary limits where an agent can go. The task boundary evaluates where the agent should go.”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Trebuchet MS"/>
              </a:defRPr>
            </a:pPr>
            <a:r>
              <a:t>Real-Time Governance, Monitoring and Control of AI Agent Ecosystems</a:t>
            </a:r>
          </a:p>
        </p:txBody>
      </p:sp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1234440" cy="16685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868680"/>
            <a:ext cx="80924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2500" b="1">
                <a:solidFill>
                  <a:srgbClr val="222222"/>
                </a:solidFill>
                <a:latin typeface="Trebuchet MS"/>
              </a:defRPr>
            </a:pPr>
            <a:r>
              <a:t>Data / Evaluation Corpus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1444752"/>
            <a:ext cx="7360920" cy="32004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27648"/>
            <a:ext cx="12188952" cy="530352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6419088"/>
            <a:ext cx="10360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>
                <a:solidFill>
                  <a:srgbClr val="FFFFFF"/>
                </a:solidFill>
                <a:latin typeface="Trebuchet MS"/>
              </a:defRPr>
            </a:pPr>
            <a:r>
              <a:t>Thijil Thejaswi M.N.   •   Dishanth Gowda H.D.   •   Vishwas V. Angadi   •   Suman Diddimani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83080"/>
            <a:ext cx="88696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i="1">
                <a:solidFill>
                  <a:srgbClr val="555555"/>
                </a:solidFill>
                <a:latin typeface="Trebuchet MS"/>
              </a:defRPr>
            </a:pPr>
            <a:r>
              <a:t>No public labeled dataset of A2A runtime security violations was available for this problem.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2240280"/>
            <a:ext cx="2788920" cy="13258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45920" y="2240280"/>
            <a:ext cx="2788920" cy="36576"/>
          </a:xfrm>
          <a:prstGeom prst="rect">
            <a:avLst/>
          </a:prstGeom>
          <a:solidFill>
            <a:srgbClr val="E48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55648" y="2331720"/>
            <a:ext cx="2569463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48312"/>
                </a:solidFill>
                <a:latin typeface="Trebuchet MS"/>
              </a:defRPr>
            </a:pPr>
            <a:r>
              <a:t>① OFFICIAL A2A TESTBED</a:t>
            </a:r>
          </a:p>
          <a:p>
            <a:pPr>
              <a:spcBef>
                <a:spcPts val="400"/>
              </a:spcBef>
              <a:defRPr sz="1000">
                <a:solidFill>
                  <a:srgbClr val="222222"/>
                </a:solidFill>
                <a:latin typeface="Trebuchet MS"/>
              </a:defRPr>
            </a:pPr>
            <a:r>
              <a:t>Google / official A2A reference sample agents run locally to produce controlled, standards-compliant multi-agent protocol traffic.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1728" y="2240280"/>
            <a:ext cx="2788920" cy="13258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81728" y="2240280"/>
            <a:ext cx="2788920" cy="36576"/>
          </a:xfrm>
          <a:prstGeom prst="rect">
            <a:avLst/>
          </a:prstGeom>
          <a:solidFill>
            <a:srgbClr val="E48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91456" y="2331720"/>
            <a:ext cx="2569463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48312"/>
                </a:solidFill>
                <a:latin typeface="Trebuchet MS"/>
              </a:defRPr>
            </a:pPr>
            <a:r>
              <a:t>② REAL PUBLIC AGENT CARDS</a:t>
            </a:r>
          </a:p>
          <a:p>
            <a:pPr>
              <a:spcBef>
                <a:spcPts val="400"/>
              </a:spcBef>
              <a:defRPr sz="1000">
                <a:solidFill>
                  <a:srgbClr val="222222"/>
                </a:solidFill>
                <a:latin typeface="Trebuchet MS"/>
              </a:defRPr>
            </a:pPr>
            <a:r>
              <a:t>A2A public registry collection: 100 live cards + 103 static registry cards = 203 Agent Cards used as read-only / offline validation baseline.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17536" y="2240280"/>
            <a:ext cx="2788920" cy="13258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17536" y="2240280"/>
            <a:ext cx="2788920" cy="36576"/>
          </a:xfrm>
          <a:prstGeom prst="rect">
            <a:avLst/>
          </a:prstGeom>
          <a:solidFill>
            <a:srgbClr val="E48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27263" y="2331720"/>
            <a:ext cx="2569463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48312"/>
                </a:solidFill>
                <a:latin typeface="Trebuchet MS"/>
              </a:defRPr>
            </a:pPr>
            <a:r>
              <a:t>③ LABELED SECURITY EPISODES</a:t>
            </a:r>
          </a:p>
          <a:p>
            <a:pPr>
              <a:spcBef>
                <a:spcPts val="400"/>
              </a:spcBef>
              <a:defRPr sz="1000">
                <a:solidFill>
                  <a:srgbClr val="222222"/>
                </a:solidFill>
                <a:latin typeface="Trebuchet MS"/>
              </a:defRPr>
            </a:pPr>
            <a:r>
              <a:t>Controlled benign and adversarial scenarios executed against local testbed covering Squatting, Cloaking, and Cycle Overflow attack families.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657600"/>
            <a:ext cx="8869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i="1">
                <a:solidFill>
                  <a:srgbClr val="555555"/>
                </a:solidFill>
                <a:latin typeface="Trebuchet MS"/>
              </a:defRPr>
            </a:pPr>
            <a:r>
              <a:t>Strict Research Ethics: We do NOT attack or send unauthorized requests to externally owned agents.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0" y="4023360"/>
            <a:ext cx="429768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783080" y="4114800"/>
            <a:ext cx="40233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222222"/>
                </a:solidFill>
                <a:latin typeface="Trebuchet MS"/>
              </a:rPr>
              <a:t>203 Real Agent Cards
</a:t>
            </a:r>
            <a:r>
              <a:rPr sz="1150">
                <a:solidFill>
                  <a:srgbClr val="555555"/>
                </a:solidFill>
                <a:latin typeface="Trebuchet MS"/>
              </a:rPr>
              <a:t>↓  Controlled mutation + ablation testing
</a:t>
            </a:r>
            <a:r>
              <a:rPr sz="1500" b="1">
                <a:solidFill>
                  <a:srgbClr val="E48312"/>
                </a:solidFill>
                <a:latin typeface="Trebuchet MS"/>
              </a:rPr>
              <a:t>700 real-card validation trials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023360"/>
            <a:ext cx="429768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4114800"/>
            <a:ext cx="40233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222222"/>
                </a:solidFill>
                <a:latin typeface="Trebuchet MS"/>
              </a:rPr>
              <a:t>Local A2A Testbed Workload
</a:t>
            </a:r>
            <a:r>
              <a:rPr sz="1150">
                <a:solidFill>
                  <a:srgbClr val="555555"/>
                </a:solidFill>
                <a:latin typeface="Trebuchet MS"/>
              </a:rPr>
              <a:t>↓  Repeated benign + attack evaluations
</a:t>
            </a:r>
            <a:r>
              <a:rPr sz="1500" b="1">
                <a:solidFill>
                  <a:srgbClr val="E48312"/>
                </a:solidFill>
                <a:latin typeface="Trebuchet MS"/>
              </a:rPr>
              <a:t>3,145 frozen empirical records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0" y="5440680"/>
            <a:ext cx="886968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645920" y="5532120"/>
            <a:ext cx="88696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 b="1" i="1">
                <a:solidFill>
                  <a:srgbClr val="E48312"/>
                </a:solidFill>
                <a:latin typeface="Trebuchet MS"/>
              </a:defRPr>
            </a:pPr>
            <a:r>
              <a:t>This is an evaluation corpus, not a model-training dataset.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Trebuchet MS"/>
              </a:defRPr>
            </a:pPr>
            <a:r>
              <a:t>Real-Time Governance, Monitoring and Control of AI Agent Ecosystems</a:t>
            </a:r>
          </a:p>
        </p:txBody>
      </p:sp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1234440" cy="16685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868680"/>
            <a:ext cx="80924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2500" b="1">
                <a:solidFill>
                  <a:srgbClr val="222222"/>
                </a:solidFill>
                <a:latin typeface="Trebuchet MS"/>
              </a:defRPr>
            </a:pPr>
            <a:r>
              <a:t>Current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1444752"/>
            <a:ext cx="7360920" cy="32004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27648"/>
            <a:ext cx="12188952" cy="530352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6419088"/>
            <a:ext cx="10360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>
                <a:solidFill>
                  <a:srgbClr val="FFFFFF"/>
                </a:solidFill>
                <a:latin typeface="Trebuchet MS"/>
              </a:defRPr>
            </a:pPr>
            <a:r>
              <a:t>Thijil Thejaswi M.N.   •   Dishanth Gowda H.D.   •   Vishwas V. Angadi   •   Suman Diddimani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1874519"/>
            <a:ext cx="4297680" cy="333756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645920" y="1874519"/>
            <a:ext cx="54864" cy="3337560"/>
          </a:xfrm>
          <a:prstGeom prst="rect">
            <a:avLst/>
          </a:prstGeom>
          <a:solidFill>
            <a:srgbClr val="E48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74519" y="1965960"/>
            <a:ext cx="393192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48312"/>
                </a:solidFill>
                <a:latin typeface="Trebuchet MS"/>
              </a:defRPr>
            </a:pPr>
            <a:r>
              <a:t>CORE IMPLEMENTATION COMPONENTS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222222"/>
                </a:solidFill>
                <a:latin typeface="Trebuchet MS"/>
              </a:rPr>
              <a:t>Security Gateway
</a:t>
            </a:r>
            <a:r>
              <a:rPr sz="1050">
                <a:solidFill>
                  <a:srgbClr val="555555"/>
                </a:solidFill>
                <a:latin typeface="Trebuchet MS"/>
              </a:rPr>
              <a:t>FastAPI-based inline proxy intercepting raw A2A protocol traffic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222222"/>
                </a:solidFill>
                <a:latin typeface="Trebuchet MS"/>
              </a:rPr>
              <a:t>Threat Detectors
</a:t>
            </a:r>
            <a:r>
              <a:rPr sz="1050">
                <a:solidFill>
                  <a:srgbClr val="555555"/>
                </a:solidFill>
                <a:latin typeface="Trebuchet MS"/>
              </a:rPr>
              <a:t>Specialized modules for Squatting, Cloaking, and Cycle Overflow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222222"/>
                </a:solidFill>
                <a:latin typeface="Trebuchet MS"/>
              </a:rPr>
              <a:t>Policy Engine
</a:t>
            </a:r>
            <a:r>
              <a:rPr sz="1050">
                <a:solidFill>
                  <a:srgbClr val="555555"/>
                </a:solidFill>
                <a:latin typeface="Trebuchet MS"/>
              </a:rPr>
              <a:t>Graduated enforcement logic: rate-limit → restrict → quarantine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222222"/>
                </a:solidFill>
                <a:latin typeface="Trebuchet MS"/>
              </a:rPr>
              <a:t>Audit Telemetry
</a:t>
            </a:r>
            <a:r>
              <a:rPr sz="1050">
                <a:solidFill>
                  <a:srgbClr val="555555"/>
                </a:solidFill>
                <a:latin typeface="Trebuchet MS"/>
              </a:rPr>
              <a:t>Asynchronous SQLite logging capturing full forensic event trails</a:t>
            </a:r>
          </a:p>
          <a:p>
            <a:pPr>
              <a:spcBef>
                <a:spcPts val="500"/>
              </a:spcBef>
            </a:pPr>
            <a:r>
              <a:rPr sz="1250" b="1">
                <a:solidFill>
                  <a:srgbClr val="222222"/>
                </a:solidFill>
                <a:latin typeface="Trebuchet MS"/>
              </a:rPr>
              <a:t>Governance Dashboard
</a:t>
            </a:r>
            <a:r>
              <a:rPr sz="1050">
                <a:solidFill>
                  <a:srgbClr val="555555"/>
                </a:solidFill>
                <a:latin typeface="Trebuchet MS"/>
              </a:rPr>
              <a:t>Operator web interface for live monitoring and policy tuning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74519"/>
            <a:ext cx="4297680" cy="333756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874519"/>
            <a:ext cx="54864" cy="333756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965960"/>
            <a:ext cx="393192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48312"/>
                </a:solidFill>
                <a:latin typeface="Trebuchet MS"/>
              </a:defRPr>
            </a:pPr>
            <a:r>
              <a:t>TECHNOLOGY STACK &amp; VERIFICATION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22222"/>
                </a:solidFill>
                <a:latin typeface="Trebuchet MS"/>
              </a:rPr>
              <a:t>•  Python 3.12: </a:t>
            </a:r>
            <a:r>
              <a:rPr sz="1050">
                <a:solidFill>
                  <a:srgbClr val="555555"/>
                </a:solidFill>
                <a:latin typeface="Trebuchet MS"/>
              </a:rPr>
              <a:t>Modern asynchronous runtime environment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22222"/>
                </a:solidFill>
                <a:latin typeface="Trebuchet MS"/>
              </a:rPr>
              <a:t>•  FastAPI + Uvicorn: </a:t>
            </a:r>
            <a:r>
              <a:rPr sz="1050">
                <a:solidFill>
                  <a:srgbClr val="555555"/>
                </a:solidFill>
                <a:latin typeface="Trebuchet MS"/>
              </a:rPr>
              <a:t>High-throughput asynchronous ASGI microframework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22222"/>
                </a:solidFill>
                <a:latin typeface="Trebuchet MS"/>
              </a:rPr>
              <a:t>•  SQLite Audit Store: </a:t>
            </a:r>
            <a:r>
              <a:rPr sz="1050">
                <a:solidFill>
                  <a:srgbClr val="555555"/>
                </a:solidFill>
                <a:latin typeface="Trebuchet MS"/>
              </a:rPr>
              <a:t>Structured, low-latency relational event persistence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22222"/>
                </a:solidFill>
                <a:latin typeface="Trebuchet MS"/>
              </a:rPr>
              <a:t>•  Google A2A SDK: </a:t>
            </a:r>
            <a:r>
              <a:rPr sz="1050">
                <a:solidFill>
                  <a:srgbClr val="555555"/>
                </a:solidFill>
                <a:latin typeface="Trebuchet MS"/>
              </a:rPr>
              <a:t>Official protocol specifications and data structures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22222"/>
                </a:solidFill>
                <a:latin typeface="Trebuchet MS"/>
              </a:rPr>
              <a:t>•  Reference Agents: </a:t>
            </a:r>
            <a:r>
              <a:rPr sz="1050">
                <a:solidFill>
                  <a:srgbClr val="555555"/>
                </a:solidFill>
                <a:latin typeface="Trebuchet MS"/>
              </a:rPr>
              <a:t>Official Google sample agents running in isolated testbed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22222"/>
                </a:solidFill>
                <a:latin typeface="Trebuchet MS"/>
              </a:rPr>
              <a:t>•  pytest (70/70 Tests): </a:t>
            </a:r>
            <a:r>
              <a:rPr sz="1050">
                <a:solidFill>
                  <a:srgbClr val="555555"/>
                </a:solidFill>
                <a:latin typeface="Trebuchet MS"/>
              </a:rPr>
              <a:t>100% automated test suite passing across all detectors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5349240"/>
            <a:ext cx="8869680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45920" y="5440680"/>
            <a:ext cx="88696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Trebuchet MS"/>
              </a:rPr>
              <a:t>Agent Request</a:t>
            </a:r>
            <a:r>
              <a:rPr sz="1200" b="1">
                <a:solidFill>
                  <a:srgbClr val="E48312"/>
                </a:solidFill>
                <a:latin typeface="Trebuchet MS"/>
              </a:rPr>
              <a:t>  →  Security Gateway</a:t>
            </a:r>
            <a:r>
              <a:rPr sz="1200" b="0">
                <a:solidFill>
                  <a:srgbClr val="222222"/>
                </a:solidFill>
                <a:latin typeface="Trebuchet MS"/>
              </a:rPr>
              <a:t>  →  Identity  →  Capability  →  Threat  →  </a:t>
            </a:r>
            <a:r>
              <a:rPr sz="1200" b="1">
                <a:solidFill>
                  <a:srgbClr val="E48312"/>
                </a:solidFill>
                <a:latin typeface="Trebuchet MS"/>
              </a:rPr>
              <a:t>Policy</a:t>
            </a:r>
            <a:r>
              <a:rPr sz="1200" b="0">
                <a:solidFill>
                  <a:srgbClr val="222222"/>
                </a:solidFill>
                <a:latin typeface="Trebuchet MS"/>
              </a:rPr>
              <a:t>  →  Audit &amp; Response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Trebuchet MS"/>
              </a:defRPr>
            </a:pPr>
            <a:r>
              <a:t>Real-Time Governance, Monitoring and Control of AI Agent Ecosystems</a:t>
            </a:r>
          </a:p>
        </p:txBody>
      </p:sp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1234440" cy="16685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868680"/>
            <a:ext cx="80924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2500" b="1">
                <a:solidFill>
                  <a:srgbClr val="222222"/>
                </a:solidFill>
                <a:latin typeface="Trebuchet MS"/>
              </a:defRPr>
            </a:pPr>
            <a:r>
              <a:t>Applications / 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1444752"/>
            <a:ext cx="7360920" cy="32004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27648"/>
            <a:ext cx="12188952" cy="530352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6419088"/>
            <a:ext cx="10360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>
                <a:solidFill>
                  <a:srgbClr val="FFFFFF"/>
                </a:solidFill>
                <a:latin typeface="Trebuchet MS"/>
              </a:defRPr>
            </a:pPr>
            <a:r>
              <a:t>Thijil Thejaswi M.N.   •   Dishanth Gowda H.D.   •   Vishwas V. Angadi   •   Suman Diddimani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1874519"/>
            <a:ext cx="4297680" cy="11887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645920" y="1874519"/>
            <a:ext cx="54864" cy="1188720"/>
          </a:xfrm>
          <a:prstGeom prst="rect">
            <a:avLst/>
          </a:prstGeom>
          <a:solidFill>
            <a:srgbClr val="E48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1984248"/>
            <a:ext cx="3977639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Trebuchet MS"/>
              </a:defRPr>
            </a:pPr>
            <a:r>
              <a:t>1. Agent Registry Governance</a:t>
            </a:r>
          </a:p>
          <a:p>
            <a:pPr>
              <a:spcBef>
                <a:spcPts val="400"/>
              </a:spcBef>
              <a:defRPr sz="1100">
                <a:solidFill>
                  <a:srgbClr val="555555"/>
                </a:solidFill>
                <a:latin typeface="Trebuchet MS"/>
              </a:defRPr>
            </a:pPr>
            <a:r>
              <a:t>Validating agent identity claims, cryptographic ownership, and declared capability manifests prior to admission into enterprise service meshes.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3200400"/>
            <a:ext cx="4297680" cy="11887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45920" y="3200400"/>
            <a:ext cx="54864" cy="1188720"/>
          </a:xfrm>
          <a:prstGeom prst="rect">
            <a:avLst/>
          </a:prstGeom>
          <a:solidFill>
            <a:srgbClr val="E48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28800" y="3310128"/>
            <a:ext cx="3977639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Trebuchet MS"/>
              </a:defRPr>
            </a:pPr>
            <a:r>
              <a:t>2. Runtime Security Monitoring</a:t>
            </a:r>
          </a:p>
          <a:p>
            <a:pPr>
              <a:spcBef>
                <a:spcPts val="400"/>
              </a:spcBef>
              <a:defRPr sz="1100">
                <a:solidFill>
                  <a:srgbClr val="555555"/>
                </a:solidFill>
                <a:latin typeface="Trebuchet MS"/>
              </a:defRPr>
            </a:pPr>
            <a:r>
              <a:t>Continuous protocol-level observation of inter-agent RPCs, identifying unapproved communication channels and prompt injection anomalies in flight.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4526280"/>
            <a:ext cx="4297680" cy="11887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45920" y="4526280"/>
            <a:ext cx="54864" cy="1188720"/>
          </a:xfrm>
          <a:prstGeom prst="rect">
            <a:avLst/>
          </a:prstGeom>
          <a:solidFill>
            <a:srgbClr val="E48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28800" y="4636008"/>
            <a:ext cx="3977639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Trebuchet MS"/>
              </a:defRPr>
            </a:pPr>
            <a:r>
              <a:t>3. Capability Drift Governance</a:t>
            </a:r>
          </a:p>
          <a:p>
            <a:pPr>
              <a:spcBef>
                <a:spcPts val="400"/>
              </a:spcBef>
              <a:defRPr sz="1100">
                <a:solidFill>
                  <a:srgbClr val="555555"/>
                </a:solidFill>
                <a:latin typeface="Trebuchet MS"/>
              </a:defRPr>
            </a:pPr>
            <a:r>
              <a:t>Enforcing strict alignment between registered Agent Card specifications and active tool execution requests (mitigating Capability Cloaking).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874519"/>
            <a:ext cx="4297680" cy="11887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874519"/>
            <a:ext cx="54864" cy="1188720"/>
          </a:xfrm>
          <a:prstGeom prst="rect">
            <a:avLst/>
          </a:prstGeom>
          <a:solidFill>
            <a:srgbClr val="E48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1984248"/>
            <a:ext cx="3977639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Trebuchet MS"/>
              </a:defRPr>
            </a:pPr>
            <a:r>
              <a:t>4. Agent Interaction Control</a:t>
            </a:r>
          </a:p>
          <a:p>
            <a:pPr>
              <a:spcBef>
                <a:spcPts val="400"/>
              </a:spcBef>
              <a:defRPr sz="1100">
                <a:solidFill>
                  <a:srgbClr val="555555"/>
                </a:solidFill>
                <a:latin typeface="Trebuchet MS"/>
              </a:defRPr>
            </a:pPr>
            <a:r>
              <a:t>Bounding recursive delegation depth and detecting infinite task-forwarding cycles between autonomous agents (preventing Cycle Overflow exhaustion).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200400"/>
            <a:ext cx="4297680" cy="11887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200400"/>
            <a:ext cx="54864" cy="1188720"/>
          </a:xfrm>
          <a:prstGeom prst="rect">
            <a:avLst/>
          </a:prstGeom>
          <a:solidFill>
            <a:srgbClr val="E48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310128"/>
            <a:ext cx="3977639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Trebuchet MS"/>
              </a:defRPr>
            </a:pPr>
            <a:r>
              <a:t>5. Graduated Incident Containment</a:t>
            </a:r>
          </a:p>
          <a:p>
            <a:pPr>
              <a:spcBef>
                <a:spcPts val="400"/>
              </a:spcBef>
              <a:defRPr sz="1100">
                <a:solidFill>
                  <a:srgbClr val="555555"/>
                </a:solidFill>
                <a:latin typeface="Trebuchet MS"/>
              </a:defRPr>
            </a:pPr>
            <a:r>
              <a:t>Proportional automated defense — deploying progressive rate limits and tool sandboxing to isolate threats without taking down mission-critical workflows.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526280"/>
            <a:ext cx="4297680" cy="11887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4526280"/>
            <a:ext cx="54864" cy="1188720"/>
          </a:xfrm>
          <a:prstGeom prst="rect">
            <a:avLst/>
          </a:prstGeom>
          <a:solidFill>
            <a:srgbClr val="E48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4636008"/>
            <a:ext cx="3977639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Trebuchet MS"/>
              </a:defRPr>
            </a:pPr>
            <a:r>
              <a:t>6. Compliance &amp; Forensic Auditing</a:t>
            </a:r>
          </a:p>
          <a:p>
            <a:pPr>
              <a:spcBef>
                <a:spcPts val="400"/>
              </a:spcBef>
              <a:defRPr sz="1100">
                <a:solidFill>
                  <a:srgbClr val="555555"/>
                </a:solidFill>
                <a:latin typeface="Trebuchet MS"/>
              </a:defRPr>
            </a:pPr>
            <a:r>
              <a:t>Maintaining an immutable chronological ledger of all inter-agent messages, policy evaluations, and remediation actions for regulatory compliance.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rebuchet MS"/>
              </a:defRPr>
            </a:pPr>
            <a:r>
              <a:t>Real-Time Governance, Monitoring and Control of AI Agent Ecosystems</a:t>
            </a:r>
          </a:p>
        </p:txBody>
      </p:sp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1234440" cy="16685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26080" y="960120"/>
            <a:ext cx="749807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2200" b="1">
                <a:solidFill>
                  <a:srgbClr val="1E293B"/>
                </a:solidFill>
                <a:latin typeface="Trebuchet MS"/>
              </a:defRPr>
            </a:pPr>
            <a:r>
              <a:t>Current Limitations and Research Extension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1508760"/>
            <a:ext cx="7406640" cy="320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27648"/>
            <a:ext cx="12188952" cy="530352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6419088"/>
            <a:ext cx="10360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Trebuchet MS"/>
              </a:defRPr>
            </a:pPr>
            <a:r>
              <a:t>Thijil Thejaswi M.N.   •   Dishanth Gowda H.D.   •   Vishwas V. Angadi   •   Suman Diddimani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Trebuchet MS"/>
              </a:defRPr>
            </a:pPr>
            <a:r>
              <a:t>Transparent Research Boundaries: Current Baseline vs. The Path to Comprehensive Execution Governance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194560"/>
            <a:ext cx="512064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2194560"/>
            <a:ext cx="5120640" cy="36576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331720"/>
            <a:ext cx="4663440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65911"/>
                </a:solidFill>
                <a:latin typeface="Trebuchet MS"/>
              </a:defRPr>
            </a:pPr>
            <a:r>
              <a:t>CURRENT PHASE-I BOUNDARIES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Trebuchet MS"/>
              </a:rPr>
              <a:t>•  Controlled Local Testbed: </a:t>
            </a:r>
            <a:r>
              <a:rPr sz="900">
                <a:solidFill>
                  <a:srgbClr val="475569"/>
                </a:solidFill>
                <a:latin typeface="Trebuchet MS"/>
              </a:rPr>
              <a:t>Evaluations run in controlled single-machine local testbed environments without enterprise multi-cloud distribution.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Trebuchet MS"/>
              </a:rPr>
              <a:t>•  Communication-Layer Observability: </a:t>
            </a:r>
            <a:r>
              <a:rPr sz="900">
                <a:solidFill>
                  <a:srgbClr val="475569"/>
                </a:solidFill>
                <a:latin typeface="Trebuchet MS"/>
              </a:rPr>
              <a:t>Currently inspects in-flight protocol messages and metadata envelopes; lacks deep host OS syscall hooks.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Trebuchet MS"/>
              </a:rPr>
              <a:t>•  Limited Runtime Resource Visibility: </a:t>
            </a:r>
            <a:r>
              <a:rPr sz="900">
                <a:solidFill>
                  <a:srgbClr val="475569"/>
                </a:solidFill>
                <a:latin typeface="Trebuchet MS"/>
              </a:rPr>
              <a:t>Process memory, direct local file I/O outside tools, and low-level socket bind events are unobserved in Phase I.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Trebuchet MS"/>
              </a:rPr>
              <a:t>•  Single-Node Governance Proxy: </a:t>
            </a:r>
            <a:r>
              <a:rPr sz="900">
                <a:solidFill>
                  <a:srgbClr val="475569"/>
                </a:solidFill>
                <a:latin typeface="Trebuchet MS"/>
              </a:rPr>
              <a:t>Inline mediation operates on a centralized local gateway, representing an initial prototype rather than distributed mesh.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194560"/>
            <a:ext cx="512064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2194560"/>
            <a:ext cx="512064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331720"/>
            <a:ext cx="4663440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Trebuchet MS"/>
              </a:defRPr>
            </a:pPr>
            <a:r>
              <a:t>PLANNED RESEARCH EXTENSIONS (PHASE II)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D9488"/>
                </a:solidFill>
                <a:latin typeface="Trebuchet MS"/>
              </a:rPr>
              <a:t>+  Host / OS Telemetry Ingestion: </a:t>
            </a:r>
            <a:r>
              <a:rPr sz="900">
                <a:solidFill>
                  <a:srgbClr val="475569"/>
                </a:solidFill>
                <a:latin typeface="Trebuchet MS"/>
              </a:rPr>
              <a:t>Integration with lightweight eBPF / OS audit sensors to capture file opens, socket connects, and process spawns.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D9488"/>
                </a:solidFill>
                <a:latin typeface="Trebuchet MS"/>
              </a:rPr>
              <a:t>+  Task ↔ Process ↔ Action Correlation: </a:t>
            </a:r>
            <a:r>
              <a:rPr sz="900">
                <a:solidFill>
                  <a:srgbClr val="475569"/>
                </a:solidFill>
                <a:latin typeface="Trebuchet MS"/>
              </a:rPr>
              <a:t>Correlate OS process trees and spawned child PIDs directly to parent task context identifiers.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D9488"/>
                </a:solidFill>
                <a:latin typeface="Trebuchet MS"/>
              </a:rPr>
              <a:t>+  Dynamic Task Boundary Inference: </a:t>
            </a:r>
            <a:r>
              <a:rPr sz="900">
                <a:solidFill>
                  <a:srgbClr val="475569"/>
                </a:solidFill>
                <a:latin typeface="Trebuchet MS"/>
              </a:rPr>
              <a:t>Derive operational perimeters dynamically from task prompts rather than pre-compiled static schemas.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D9488"/>
                </a:solidFill>
                <a:latin typeface="Trebuchet MS"/>
              </a:rPr>
              <a:t>+  Task-Aware Deviation Scoring: </a:t>
            </a:r>
            <a:r>
              <a:rPr sz="900">
                <a:solidFill>
                  <a:srgbClr val="475569"/>
                </a:solidFill>
                <a:latin typeface="Trebuchet MS"/>
              </a:rPr>
              <a:t>Continuous scoring model evaluating action anomaly degree relative to task completion objectives.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486400"/>
            <a:ext cx="10515600" cy="530352"/>
          </a:xfrm>
          <a:prstGeom prst="rect">
            <a:avLst/>
          </a:prstGeom>
          <a:solidFill>
            <a:srgbClr val="FFFBE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5486400"/>
            <a:ext cx="73152" cy="530352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5559552"/>
            <a:ext cx="10259568" cy="3840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C65911"/>
                </a:solidFill>
                <a:latin typeface="Trebuchet MS"/>
              </a:rPr>
              <a:t>STRATEGIC RESEARCH TRAJECTORY: </a:t>
            </a:r>
            <a:r>
              <a:rPr sz="950">
                <a:solidFill>
                  <a:srgbClr val="1E293B"/>
                </a:solidFill>
                <a:latin typeface="Trebuchet MS"/>
              </a:rPr>
              <a:t>“The next step is to move from governing agent communication to governing observable agent execution.”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Trebuchet MS"/>
              </a:defRPr>
            </a:pPr>
            <a:r>
              <a:t>Real-Time Governance, Monitoring and Control of AI Agent Ecosystems</a:t>
            </a:r>
          </a:p>
        </p:txBody>
      </p:sp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1234440" cy="16685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868680"/>
            <a:ext cx="80924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2500" b="1">
                <a:solidFill>
                  <a:srgbClr val="222222"/>
                </a:solidFill>
                <a:latin typeface="Trebuchet MS"/>
              </a:defRPr>
            </a:pPr>
            <a:r>
              <a:t>Capstone Project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1444752"/>
            <a:ext cx="7360920" cy="32004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27648"/>
            <a:ext cx="12188952" cy="530352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6419088"/>
            <a:ext cx="10360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>
                <a:solidFill>
                  <a:srgbClr val="FFFFFF"/>
                </a:solidFill>
                <a:latin typeface="Trebuchet MS"/>
              </a:defRPr>
            </a:pPr>
            <a:r>
              <a:t>Thijil Thejaswi M.N.   •   Dishanth Gowda H.D.   •   Vishwas V. Angadi   •   Suman Diddimani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83080"/>
            <a:ext cx="8869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E48312"/>
                </a:solidFill>
                <a:latin typeface="Trebuchet MS"/>
              </a:rPr>
              <a:t>TEAM RESPONSIBILITIES:   </a:t>
            </a:r>
            <a:r>
              <a:rPr sz="1100">
                <a:solidFill>
                  <a:srgbClr val="222222"/>
                </a:solidFill>
                <a:latin typeface="Trebuchet MS"/>
              </a:rPr>
              <a:t>Thijil Thejaswi M.N.   •   Dishanth Gowda H.D.   •   Vishwas V. Angadi   •   Suman Diddimani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2148840"/>
            <a:ext cx="8869680" cy="17830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2240280"/>
            <a:ext cx="2286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E48312"/>
                </a:solidFill>
                <a:latin typeface="Trebuchet MS"/>
              </a:defRPr>
            </a:pPr>
            <a:r>
              <a:t>PHASE I (Aug '26 – Dec '26)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4028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 b="1">
                <a:solidFill>
                  <a:srgbClr val="555555"/>
                </a:solidFill>
                <a:latin typeface="Trebuchet MS"/>
              </a:defRPr>
            </a:pPr>
            <a:r>
              <a:t>Aug '26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24028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 b="1">
                <a:solidFill>
                  <a:srgbClr val="555555"/>
                </a:solidFill>
                <a:latin typeface="Trebuchet MS"/>
              </a:defRPr>
            </a:pPr>
            <a:r>
              <a:t>Sep '26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4028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 b="1">
                <a:solidFill>
                  <a:srgbClr val="555555"/>
                </a:solidFill>
                <a:latin typeface="Trebuchet MS"/>
              </a:defRPr>
            </a:pPr>
            <a:r>
              <a:t>Oct '26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24028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 b="1">
                <a:solidFill>
                  <a:srgbClr val="555555"/>
                </a:solidFill>
                <a:latin typeface="Trebuchet MS"/>
              </a:defRPr>
            </a:pPr>
            <a:r>
              <a:t>Nov '26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24028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 b="1">
                <a:solidFill>
                  <a:srgbClr val="555555"/>
                </a:solidFill>
                <a:latin typeface="Trebuchet MS"/>
              </a:defRPr>
            </a:pPr>
            <a:r>
              <a:t>Dec '26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240280"/>
            <a:ext cx="1097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55555"/>
                </a:solidFill>
                <a:latin typeface="Trebuchet MS"/>
              </a:defRPr>
            </a:pPr>
            <a:r>
              <a:t>Lead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514600"/>
            <a:ext cx="2560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222222"/>
                </a:solidFill>
                <a:latin typeface="Trebuchet MS"/>
              </a:defRPr>
            </a:pPr>
            <a:r>
              <a:t>Literature survey &amp; problem definition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2542032"/>
            <a:ext cx="868680" cy="164592"/>
          </a:xfrm>
          <a:prstGeom prst="rect">
            <a:avLst/>
          </a:prstGeom>
          <a:solidFill>
            <a:srgbClr val="E48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94959" y="2542032"/>
            <a:ext cx="868680" cy="164592"/>
          </a:xfrm>
          <a:prstGeom prst="rect">
            <a:avLst/>
          </a:prstGeom>
          <a:solidFill>
            <a:srgbClr val="E48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0" y="2514600"/>
            <a:ext cx="1097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555555"/>
                </a:solidFill>
                <a:latin typeface="Trebuchet MS"/>
              </a:defRPr>
            </a:pPr>
            <a:r>
              <a:t>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2770632"/>
            <a:ext cx="2560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222222"/>
                </a:solidFill>
                <a:latin typeface="Trebuchet MS"/>
              </a:defRPr>
            </a:pPr>
            <a:r>
              <a:t>A2A protocol study &amp; testbed setup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59" y="2798064"/>
            <a:ext cx="868680" cy="164592"/>
          </a:xfrm>
          <a:prstGeom prst="rect">
            <a:avLst/>
          </a:prstGeom>
          <a:solidFill>
            <a:srgbClr val="E48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55080" y="2798064"/>
            <a:ext cx="868680" cy="164592"/>
          </a:xfrm>
          <a:prstGeom prst="rect">
            <a:avLst/>
          </a:prstGeom>
          <a:solidFill>
            <a:srgbClr val="E48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0" y="2770632"/>
            <a:ext cx="1097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555555"/>
                </a:solidFill>
                <a:latin typeface="Trebuchet MS"/>
              </a:defRPr>
            </a:pPr>
            <a:r>
              <a:t>Thijil, Dishanth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3026664"/>
            <a:ext cx="2560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222222"/>
                </a:solidFill>
                <a:latin typeface="Trebuchet MS"/>
              </a:defRPr>
            </a:pPr>
            <a:r>
              <a:t>Threat model &amp; detector design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3054096"/>
            <a:ext cx="868680" cy="164592"/>
          </a:xfrm>
          <a:prstGeom prst="rect">
            <a:avLst/>
          </a:prstGeom>
          <a:solidFill>
            <a:srgbClr val="E48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0" y="3054096"/>
            <a:ext cx="868680" cy="164592"/>
          </a:xfrm>
          <a:prstGeom prst="rect">
            <a:avLst/>
          </a:prstGeom>
          <a:solidFill>
            <a:srgbClr val="E48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0" y="3026664"/>
            <a:ext cx="1097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555555"/>
                </a:solidFill>
                <a:latin typeface="Trebuchet MS"/>
              </a:defRPr>
            </a:pPr>
            <a:r>
              <a:t>Vishwas, Suman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3282696"/>
            <a:ext cx="2560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222222"/>
                </a:solidFill>
                <a:latin typeface="Trebuchet MS"/>
              </a:defRPr>
            </a:pPr>
            <a:r>
              <a:t>Security Gateway implementation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3310127"/>
            <a:ext cx="868680" cy="164592"/>
          </a:xfrm>
          <a:prstGeom prst="rect">
            <a:avLst/>
          </a:prstGeom>
          <a:solidFill>
            <a:srgbClr val="E48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0" y="3310127"/>
            <a:ext cx="868680" cy="164592"/>
          </a:xfrm>
          <a:prstGeom prst="rect">
            <a:avLst/>
          </a:prstGeom>
          <a:solidFill>
            <a:srgbClr val="E48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75320" y="3310127"/>
            <a:ext cx="868680" cy="164592"/>
          </a:xfrm>
          <a:prstGeom prst="rect">
            <a:avLst/>
          </a:prstGeom>
          <a:solidFill>
            <a:srgbClr val="E48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26880" y="3282696"/>
            <a:ext cx="1097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555555"/>
                </a:solidFill>
                <a:latin typeface="Trebuchet MS"/>
              </a:defRPr>
            </a:pPr>
            <a:r>
              <a:t>Thijil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3538728"/>
            <a:ext cx="2560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222222"/>
                </a:solidFill>
                <a:latin typeface="Trebuchet MS"/>
              </a:defRPr>
            </a:pPr>
            <a:r>
              <a:t>Evaluation corpus &amp; Phase-I review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3566160"/>
            <a:ext cx="868680" cy="164592"/>
          </a:xfrm>
          <a:prstGeom prst="rect">
            <a:avLst/>
          </a:prstGeom>
          <a:solidFill>
            <a:srgbClr val="E48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275320" y="3566160"/>
            <a:ext cx="868680" cy="164592"/>
          </a:xfrm>
          <a:prstGeom prst="rect">
            <a:avLst/>
          </a:prstGeom>
          <a:solidFill>
            <a:srgbClr val="E48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26880" y="3538728"/>
            <a:ext cx="1097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555555"/>
                </a:solidFill>
                <a:latin typeface="Trebuchet MS"/>
              </a:defRPr>
            </a:pPr>
            <a:r>
              <a:t>Dishanth, Vishwas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20" y="4069080"/>
            <a:ext cx="8869680" cy="173736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783080" y="4160520"/>
            <a:ext cx="2286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33CCCC"/>
                </a:solidFill>
                <a:latin typeface="Trebuchet MS"/>
              </a:defRPr>
            </a:pPr>
            <a:r>
              <a:t>PHASE II (Jan '27 – Dec '27)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416052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 b="1">
                <a:solidFill>
                  <a:srgbClr val="555555"/>
                </a:solidFill>
                <a:latin typeface="Trebuchet MS"/>
              </a:defRPr>
            </a:pPr>
            <a:r>
              <a:t>Jan '27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416052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 b="1">
                <a:solidFill>
                  <a:srgbClr val="555555"/>
                </a:solidFill>
                <a:latin typeface="Trebuchet MS"/>
              </a:defRPr>
            </a:pPr>
            <a:r>
              <a:t>Feb '27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16052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 b="1">
                <a:solidFill>
                  <a:srgbClr val="555555"/>
                </a:solidFill>
                <a:latin typeface="Trebuchet MS"/>
              </a:defRPr>
            </a:pPr>
            <a:r>
              <a:t>Mar '27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416052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 b="1">
                <a:solidFill>
                  <a:srgbClr val="555555"/>
                </a:solidFill>
                <a:latin typeface="Trebuchet MS"/>
              </a:defRPr>
            </a:pPr>
            <a:r>
              <a:t>Apr '27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4160520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 b="1">
                <a:solidFill>
                  <a:srgbClr val="555555"/>
                </a:solidFill>
                <a:latin typeface="Trebuchet MS"/>
              </a:defRPr>
            </a:pPr>
            <a:r>
              <a:t>May–Dec '27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4160520"/>
            <a:ext cx="1097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55555"/>
                </a:solidFill>
                <a:latin typeface="Trebuchet MS"/>
              </a:defRPr>
            </a:pPr>
            <a:r>
              <a:t>Lead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83080" y="4434840"/>
            <a:ext cx="2560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222222"/>
                </a:solidFill>
                <a:latin typeface="Trebuchet MS"/>
              </a:defRPr>
            </a:pPr>
            <a:r>
              <a:t>Advanced detectors &amp; policy tuning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34840" y="4462272"/>
            <a:ext cx="868680" cy="164592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394959" y="4462272"/>
            <a:ext cx="868680" cy="164592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326880" y="4434840"/>
            <a:ext cx="1097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555555"/>
                </a:solidFill>
                <a:latin typeface="Trebuchet MS"/>
              </a:defRPr>
            </a:pPr>
            <a:r>
              <a:t>Thijil, Vishwas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83080" y="4690872"/>
            <a:ext cx="2560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222222"/>
                </a:solidFill>
                <a:latin typeface="Trebuchet MS"/>
              </a:defRPr>
            </a:pPr>
            <a:r>
              <a:t>Live governance console &amp; telemetry UI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94959" y="4718304"/>
            <a:ext cx="868680" cy="164592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355080" y="4718304"/>
            <a:ext cx="868680" cy="164592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326880" y="4690872"/>
            <a:ext cx="1097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555555"/>
                </a:solidFill>
                <a:latin typeface="Trebuchet MS"/>
              </a:defRPr>
            </a:pPr>
            <a:r>
              <a:t>Dishanth, Suman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83080" y="4946904"/>
            <a:ext cx="2560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222222"/>
                </a:solidFill>
                <a:latin typeface="Trebuchet MS"/>
              </a:defRPr>
            </a:pPr>
            <a:r>
              <a:t>Multi-agent stress testing &amp; evaluation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55080" y="4974336"/>
            <a:ext cx="868680" cy="164592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315200" y="4974336"/>
            <a:ext cx="868680" cy="164592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326880" y="4946904"/>
            <a:ext cx="1097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555555"/>
                </a:solidFill>
                <a:latin typeface="Trebuchet MS"/>
              </a:defRPr>
            </a:pPr>
            <a:r>
              <a:t>All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83080" y="5202936"/>
            <a:ext cx="2560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222222"/>
                </a:solidFill>
                <a:latin typeface="Trebuchet MS"/>
              </a:defRPr>
            </a:pPr>
            <a:r>
              <a:t>Final capstone documentation &amp; defense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0" y="5230368"/>
            <a:ext cx="868680" cy="164592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275320" y="5230368"/>
            <a:ext cx="868680" cy="164592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326880" y="5202936"/>
            <a:ext cx="1097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555555"/>
                </a:solidFill>
                <a:latin typeface="Trebuchet MS"/>
              </a:defRPr>
            </a:pPr>
            <a:r>
              <a:t>All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888888"/>
                </a:solidFill>
                <a:latin typeface="Trebuchet MS"/>
              </a:defRPr>
            </a:pPr>
            <a:r>
              <a:t>Real-Time Governance, Monitoring and Control of AI Agent Ecosystems</a:t>
            </a:r>
          </a:p>
        </p:txBody>
      </p:sp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1234440" cy="16685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868680"/>
            <a:ext cx="80924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2500" b="1">
                <a:solidFill>
                  <a:srgbClr val="222222"/>
                </a:solidFill>
                <a:latin typeface="Trebuchet MS"/>
              </a:defRPr>
            </a:pPr>
            <a:r>
              <a:t>Selected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1444752"/>
            <a:ext cx="7360920" cy="32004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27648"/>
            <a:ext cx="12188952" cy="530352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6419088"/>
            <a:ext cx="1036015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>
                <a:solidFill>
                  <a:srgbClr val="FFFFFF"/>
                </a:solidFill>
                <a:latin typeface="Trebuchet MS"/>
              </a:defRPr>
            </a:pPr>
            <a:r>
              <a:t>Thijil Thejaswi M.N.   •   Dishanth Gowda H.D.   •   Vishwas V. Angadi   •   Suman Diddimani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1874519"/>
            <a:ext cx="4754880" cy="39319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645920" y="1874519"/>
            <a:ext cx="54864" cy="3931920"/>
          </a:xfrm>
          <a:prstGeom prst="rect">
            <a:avLst/>
          </a:prstGeom>
          <a:solidFill>
            <a:srgbClr val="E483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74519" y="1965960"/>
            <a:ext cx="438912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48312"/>
                </a:solidFill>
                <a:latin typeface="Trebuchet MS"/>
              </a:defRPr>
            </a:pPr>
            <a:r>
              <a:t>PRIMARY IEEE LITERATURE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E48312"/>
                </a:solidFill>
                <a:latin typeface="Trebuchet MS"/>
              </a:rPr>
              <a:t>[1]  </a:t>
            </a:r>
            <a:r>
              <a:rPr sz="1100" b="1">
                <a:solidFill>
                  <a:srgbClr val="222222"/>
                </a:solidFill>
                <a:latin typeface="Trebuchet MS"/>
              </a:rPr>
              <a:t>An Agent Execution Control Layer for Organizational Multi-Agent Systems
</a:t>
            </a:r>
            <a:r>
              <a:rPr sz="1000">
                <a:solidFill>
                  <a:srgbClr val="555555"/>
                </a:solidFill>
                <a:latin typeface="Trebuchet MS"/>
              </a:rPr>
              <a:t>     2026 — ICIETSD — Pudukkottai, India   |   </a:t>
            </a:r>
            <a:r>
              <a:rPr sz="1000" b="1">
                <a:solidFill>
                  <a:srgbClr val="E48312"/>
                </a:solidFill>
                <a:latin typeface="Trebuchet MS"/>
                <a:hlinkClick r:id="rId3"/>
              </a:rPr>
              <a:t>DOI / Paper →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E48312"/>
                </a:solidFill>
                <a:latin typeface="Trebuchet MS"/>
              </a:rPr>
              <a:t>[2]  </a:t>
            </a:r>
            <a:r>
              <a:rPr sz="1100" b="1">
                <a:solidFill>
                  <a:srgbClr val="222222"/>
                </a:solidFill>
                <a:latin typeface="Trebuchet MS"/>
              </a:rPr>
              <a:t>Safe and Policy-Compliant Multi-Agent Orchestration for Enterprise AI
</a:t>
            </a:r>
            <a:r>
              <a:rPr sz="1000">
                <a:solidFill>
                  <a:srgbClr val="555555"/>
                </a:solidFill>
                <a:latin typeface="Trebuchet MS"/>
              </a:rPr>
              <a:t>     2026 — ICAISET — Cairo, Egypt   |   </a:t>
            </a:r>
            <a:r>
              <a:rPr sz="1000" b="1">
                <a:solidFill>
                  <a:srgbClr val="E48312"/>
                </a:solidFill>
                <a:latin typeface="Trebuchet MS"/>
                <a:hlinkClick r:id="rId4"/>
              </a:rPr>
              <a:t>DOI / Paper →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E48312"/>
                </a:solidFill>
                <a:latin typeface="Trebuchet MS"/>
              </a:rPr>
              <a:t>[3]  </a:t>
            </a:r>
            <a:r>
              <a:rPr sz="1100" b="1">
                <a:solidFill>
                  <a:srgbClr val="222222"/>
                </a:solidFill>
                <a:latin typeface="Trebuchet MS"/>
              </a:rPr>
              <a:t>Ethical AI Governance Models for Federated Multi-Agent Ecosystems
</a:t>
            </a:r>
            <a:r>
              <a:rPr sz="1000">
                <a:solidFill>
                  <a:srgbClr val="555555"/>
                </a:solidFill>
                <a:latin typeface="Trebuchet MS"/>
              </a:rPr>
              <a:t>     2026 — I3CTCON — Lonavala, India   |   </a:t>
            </a:r>
            <a:r>
              <a:rPr sz="1000" b="1">
                <a:solidFill>
                  <a:srgbClr val="E48312"/>
                </a:solidFill>
                <a:latin typeface="Trebuchet MS"/>
                <a:hlinkClick r:id="rId5"/>
              </a:rPr>
              <a:t>DOI / Paper →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E48312"/>
                </a:solidFill>
                <a:latin typeface="Trebuchet MS"/>
              </a:rPr>
              <a:t>[4]  </a:t>
            </a:r>
            <a:r>
              <a:rPr sz="1100" b="1">
                <a:solidFill>
                  <a:srgbClr val="222222"/>
                </a:solidFill>
                <a:latin typeface="Trebuchet MS"/>
              </a:rPr>
              <a:t>Governance Challenges and Ethical Risks of Agentic AI in Education
</a:t>
            </a:r>
            <a:r>
              <a:rPr sz="1000">
                <a:solidFill>
                  <a:srgbClr val="555555"/>
                </a:solidFill>
                <a:latin typeface="Trebuchet MS"/>
              </a:rPr>
              <a:t>     2026 — ISSATK — Hammamet, Tunisia   |   </a:t>
            </a:r>
            <a:r>
              <a:rPr sz="1000" b="1">
                <a:solidFill>
                  <a:srgbClr val="E48312"/>
                </a:solidFill>
                <a:latin typeface="Trebuchet MS"/>
                <a:hlinkClick r:id="rId6"/>
              </a:rPr>
              <a:t>DOI / Paper 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874519"/>
            <a:ext cx="3840480" cy="39319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75120" y="1874519"/>
            <a:ext cx="54864" cy="393192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3720" y="1965960"/>
            <a:ext cx="3474720" cy="2864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48312"/>
                </a:solidFill>
                <a:latin typeface="Trebuchet MS"/>
              </a:defRPr>
            </a:pPr>
            <a:r>
              <a:rPr dirty="0"/>
              <a:t>PROTOCOLS &amp; PROJECT REPOSITORIES</a:t>
            </a:r>
          </a:p>
          <a:p>
            <a:pPr>
              <a:spcBef>
                <a:spcPts val="800"/>
              </a:spcBef>
            </a:pPr>
            <a:r>
              <a:rPr sz="1100" b="1" dirty="0">
                <a:solidFill>
                  <a:srgbClr val="E48312"/>
                </a:solidFill>
                <a:latin typeface="Trebuchet MS"/>
              </a:rPr>
              <a:t>•  </a:t>
            </a:r>
            <a:r>
              <a:rPr sz="1150" b="1" dirty="0">
                <a:solidFill>
                  <a:srgbClr val="E48312"/>
                </a:solidFill>
                <a:latin typeface="Trebuchet MS"/>
                <a:hlinkClick r:id="rId7"/>
              </a:rPr>
              <a:t>A2A Protocol Specification →
</a:t>
            </a:r>
            <a:r>
              <a:rPr sz="1000" dirty="0">
                <a:solidFill>
                  <a:srgbClr val="555555"/>
                </a:solidFill>
                <a:latin typeface="Trebuchet MS"/>
              </a:rPr>
              <a:t>   Official Google Agent-to-Agent protocol spec</a:t>
            </a:r>
          </a:p>
          <a:p>
            <a:pPr>
              <a:spcBef>
                <a:spcPts val="800"/>
              </a:spcBef>
            </a:pPr>
            <a:r>
              <a:rPr sz="1100" b="1" dirty="0">
                <a:solidFill>
                  <a:srgbClr val="E48312"/>
                </a:solidFill>
                <a:latin typeface="Trebuchet MS"/>
              </a:rPr>
              <a:t>•  </a:t>
            </a:r>
            <a:r>
              <a:rPr sz="1150" b="1" dirty="0">
                <a:solidFill>
                  <a:srgbClr val="E48312"/>
                </a:solidFill>
                <a:latin typeface="Trebuchet MS"/>
                <a:hlinkClick r:id="rId8"/>
              </a:rPr>
              <a:t>Official A2A Samples →
</a:t>
            </a:r>
            <a:r>
              <a:rPr sz="1000" dirty="0">
                <a:solidFill>
                  <a:srgbClr val="555555"/>
                </a:solidFill>
                <a:latin typeface="Trebuchet MS"/>
              </a:rPr>
              <a:t>   Official reference implementations &amp; agents</a:t>
            </a:r>
          </a:p>
          <a:p>
            <a:pPr>
              <a:spcBef>
                <a:spcPts val="800"/>
              </a:spcBef>
            </a:pPr>
            <a:r>
              <a:rPr sz="1100" b="1" dirty="0">
                <a:solidFill>
                  <a:srgbClr val="E48312"/>
                </a:solidFill>
                <a:latin typeface="Trebuchet MS"/>
              </a:rPr>
              <a:t>•  </a:t>
            </a:r>
            <a:r>
              <a:rPr sz="1150" b="1" dirty="0">
                <a:solidFill>
                  <a:srgbClr val="E48312"/>
                </a:solidFill>
                <a:latin typeface="Trebuchet MS"/>
                <a:hlinkClick r:id="rId9"/>
              </a:rPr>
              <a:t>A2ASecBench →
</a:t>
            </a:r>
            <a:r>
              <a:rPr sz="1000" dirty="0">
                <a:solidFill>
                  <a:srgbClr val="555555"/>
                </a:solidFill>
                <a:latin typeface="Trebuchet MS"/>
              </a:rPr>
              <a:t>   Project benchmark suite &amp; attack generators</a:t>
            </a:r>
          </a:p>
          <a:p>
            <a:pPr>
              <a:spcBef>
                <a:spcPts val="800"/>
              </a:spcBef>
            </a:pPr>
            <a:r>
              <a:rPr sz="1100" b="1" dirty="0">
                <a:solidFill>
                  <a:srgbClr val="E48312"/>
                </a:solidFill>
                <a:latin typeface="Trebuchet MS"/>
              </a:rPr>
              <a:t>•  </a:t>
            </a:r>
            <a:r>
              <a:rPr sz="1150" b="1" dirty="0">
                <a:solidFill>
                  <a:srgbClr val="E48312"/>
                </a:solidFill>
                <a:latin typeface="Trebuchet MS"/>
                <a:hlinkClick r:id="rId10"/>
              </a:rPr>
              <a:t>A2A Inspector →
</a:t>
            </a:r>
            <a:r>
              <a:rPr sz="1000" dirty="0">
                <a:solidFill>
                  <a:srgbClr val="555555"/>
                </a:solidFill>
                <a:latin typeface="Trebuchet MS"/>
              </a:rPr>
              <a:t>   Runtime protocol inspection &amp; forensic utility</a:t>
            </a:r>
          </a:p>
          <a:p>
            <a:pPr>
              <a:spcBef>
                <a:spcPts val="800"/>
              </a:spcBef>
            </a:pPr>
            <a:r>
              <a:rPr sz="1100" b="1" dirty="0">
                <a:solidFill>
                  <a:srgbClr val="E48312"/>
                </a:solidFill>
                <a:latin typeface="Trebuchet MS"/>
              </a:rPr>
              <a:t>•  </a:t>
            </a:r>
            <a:r>
              <a:rPr sz="1150" b="1" dirty="0">
                <a:solidFill>
                  <a:srgbClr val="E48312"/>
                </a:solidFill>
                <a:latin typeface="Trebuchet MS"/>
                <a:hlinkClick r:id="rId11"/>
              </a:rPr>
              <a:t>A2A Registry →
</a:t>
            </a:r>
            <a:r>
              <a:rPr sz="1000" dirty="0">
                <a:solidFill>
                  <a:srgbClr val="555555"/>
                </a:solidFill>
                <a:latin typeface="Trebuchet MS"/>
              </a:rPr>
              <a:t>   Decentralized agent registration service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234440" cy="166852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57200"/>
            <a:ext cx="91440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Trebuchet MS"/>
              </a:defRPr>
            </a:pPr>
            <a:r>
              <a:t>PES UNIVERSITY  •  DEPARTMENT OF COMPUTER SCIENCE AND ENGINEERING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Trebuchet MS"/>
              </a:defRPr>
            </a:pPr>
            <a:r>
              <a:t>B.Tech. in CSE (AI &amp; ML)  •  Capstone Project Phase-1 Review-1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10515600" cy="228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4400" b="1">
                <a:solidFill>
                  <a:srgbClr val="1E293B"/>
                </a:solidFill>
                <a:latin typeface="Trebuchet MS"/>
              </a:defRPr>
            </a:pPr>
            <a:r>
              <a:t>Thank You</a:t>
            </a:r>
          </a:p>
          <a:p>
            <a:pPr algn="ctr">
              <a:spcBef>
                <a:spcPts val="400"/>
              </a:spcBef>
              <a:defRPr sz="1000">
                <a:solidFill>
                  <a:srgbClr val="0D9488"/>
                </a:solidFill>
              </a:defRPr>
            </a:pPr>
            <a:r>
              <a:t>━━━━━━━━━━━━━━━━━━━━━━━━━━━━</a:t>
            </a:r>
          </a:p>
          <a:p>
            <a:pPr algn="ctr">
              <a:spcBef>
                <a:spcPts val="1200"/>
              </a:spcBef>
              <a:defRPr sz="2000" b="1">
                <a:solidFill>
                  <a:srgbClr val="1E293B"/>
                </a:solidFill>
                <a:latin typeface="Trebuchet MS"/>
              </a:defRPr>
            </a:pPr>
            <a:r>
              <a:t>Real-Time Governance, Monitoring and Control</a:t>
            </a:r>
            <a:br/>
            <a:r>
              <a:t>of AI Agent Ecosystems</a:t>
            </a:r>
          </a:p>
          <a:p>
            <a:pPr algn="ctr">
              <a:spcBef>
                <a:spcPts val="1000"/>
              </a:spcBef>
              <a:defRPr sz="1500" b="1">
                <a:solidFill>
                  <a:srgbClr val="C65911"/>
                </a:solidFill>
                <a:latin typeface="Trebuchet MS"/>
              </a:defRPr>
            </a:pPr>
            <a:r>
              <a:t>“Observe the action. Understand the task. Govern the deviation.”</a:t>
            </a:r>
          </a:p>
          <a:p>
            <a:pPr algn="ctr">
              <a:spcBef>
                <a:spcPts val="1400"/>
              </a:spcBef>
              <a:defRPr sz="1250" b="1">
                <a:solidFill>
                  <a:srgbClr val="475569"/>
                </a:solidFill>
                <a:latin typeface="Trebuchet MS"/>
              </a:defRPr>
            </a:pPr>
            <a:r>
              <a:t>Project ID: PW_27_PK_07   |   Project Guide: Prof. Preet Kanwal</a:t>
            </a:r>
          </a:p>
          <a:p>
            <a:pPr algn="ctr">
              <a:spcBef>
                <a:spcPts val="600"/>
              </a:spcBef>
              <a:defRPr sz="1200">
                <a:solidFill>
                  <a:srgbClr val="475569"/>
                </a:solidFill>
                <a:latin typeface="Trebuchet MS"/>
              </a:defRPr>
            </a:pPr>
            <a:r>
              <a:t>Thijil Thejaswi M.N.   •   Dishanth Gowda H.D.   •   Vishwas V. Angadi   •   Suman Diddimani</a:t>
            </a:r>
          </a:p>
          <a:p>
            <a:pPr algn="ctr">
              <a:spcBef>
                <a:spcPts val="2000"/>
              </a:spcBef>
              <a:defRPr sz="1600" b="1">
                <a:solidFill>
                  <a:srgbClr val="C65911"/>
                </a:solidFill>
                <a:latin typeface="Trebuchet MS"/>
              </a:defRPr>
            </a:pPr>
            <a:r>
              <a:t>Questions &amp; Panel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27648"/>
            <a:ext cx="12188952" cy="530352"/>
          </a:xfrm>
          <a:prstGeom prst="rect">
            <a:avLst/>
          </a:prstGeom>
          <a:solidFill>
            <a:srgbClr val="C6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450</TotalTime>
  <Words>2894</Words>
  <Application>Microsoft Office PowerPoint</Application>
  <PresentationFormat>Widescreen</PresentationFormat>
  <Paragraphs>278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Trebuchet MS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SINDHU</dc:creator>
  <cp:lastModifiedBy>Thijil Thejaswi M.N.</cp:lastModifiedBy>
  <cp:revision>17</cp:revision>
  <dcterms:created xsi:type="dcterms:W3CDTF">2020-06-03T14:19:11Z</dcterms:created>
  <dcterms:modified xsi:type="dcterms:W3CDTF">2026-10-09T09:52:45Z</dcterms:modified>
</cp:coreProperties>
</file>